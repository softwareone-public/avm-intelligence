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74" r:id="rId7"/>
    <p:sldId id="275" r:id="rId8"/>
    <p:sldId id="261" r:id="rId9"/>
    <p:sldId id="262" r:id="rId10"/>
    <p:sldId id="276" r:id="rId11"/>
    <p:sldId id="277" r:id="rId12"/>
    <p:sldId id="278" r:id="rId13"/>
    <p:sldId id="279" r:id="rId14"/>
    <p:sldId id="280" r:id="rId15"/>
    <p:sldId id="264" r:id="rId16"/>
    <p:sldId id="263" r:id="rId17"/>
    <p:sldId id="265" r:id="rId18"/>
    <p:sldId id="281" r:id="rId19"/>
    <p:sldId id="266" r:id="rId20"/>
    <p:sldId id="267" r:id="rId21"/>
    <p:sldId id="268" r:id="rId22"/>
    <p:sldId id="283" r:id="rId23"/>
    <p:sldId id="284" r:id="rId24"/>
    <p:sldId id="269" r:id="rId25"/>
    <p:sldId id="270" r:id="rId26"/>
    <p:sldId id="271" r:id="rId27"/>
    <p:sldId id="272" r:id="rId28"/>
    <p:sldId id="273" r:id="rId29"/>
    <p:sldId id="28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11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E5C9D-DE91-5D45-A526-1986ACEEA37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FFE2C-3207-C44B-8784-CD7B552C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86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FFE2C-3207-C44B-8784-CD7B552C39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FFE2C-3207-C44B-8784-CD7B552C39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27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FFE2C-3207-C44B-8784-CD7B552C39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65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FFE2C-3207-C44B-8784-CD7B552C39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02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FFE2C-3207-C44B-8784-CD7B552C39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05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FFE2C-3207-C44B-8784-CD7B552C39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8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903720" y="502920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42631" y="50292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81544" y="50292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0456" y="50292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59367" y="502920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98280" y="50292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37192" y="50292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76104" y="50292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415016" y="502920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853928" y="50292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03720" y="941832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42631" y="941832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81544" y="941832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0456" y="941832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59367" y="941832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98280" y="941832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37192" y="941832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976104" y="941832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15016" y="941832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853928" y="941832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03720" y="1380744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42631" y="1380744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81544" y="1380744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0456" y="1380744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59367" y="1380744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98280" y="1380744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537192" y="1380744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976104" y="1380744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415016" y="1380744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853928" y="1380744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903720" y="1819656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342631" y="1819656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781544" y="1819656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0456" y="1819656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59367" y="1819656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98280" y="1819656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537192" y="1819656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976104" y="1819656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415016" y="1819656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853928" y="1819656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903720" y="2258568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342631" y="2258568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781544" y="2258568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220456" y="2258568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659367" y="2258568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098280" y="2258568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537192" y="2258568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976104" y="2258568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415016" y="2258568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853928" y="2258568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903720" y="269748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342631" y="269748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781544" y="2697480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20456" y="269748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659367" y="269748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098280" y="269748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537192" y="2697480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976104" y="269748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415016" y="269748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853928" y="2697480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903720" y="3136391"/>
            <a:ext cx="50292" cy="50292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342631" y="3136391"/>
            <a:ext cx="32004" cy="32004"/>
          </a:xfrm>
          <a:prstGeom prst="ellipse">
            <a:avLst/>
          </a:prstGeom>
          <a:solidFill>
            <a:srgbClr val="515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732520" y="1691640"/>
            <a:ext cx="2880360" cy="2880360"/>
          </a:xfrm>
          <a:prstGeom prst="ellipse">
            <a:avLst/>
          </a:prstGeom>
          <a:solidFill>
            <a:srgbClr val="20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111996" y="2071116"/>
            <a:ext cx="2121408" cy="2121408"/>
          </a:xfrm>
          <a:prstGeom prst="ellipse">
            <a:avLst/>
          </a:prstGeom>
          <a:solidFill>
            <a:srgbClr val="25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509760" y="2468880"/>
            <a:ext cx="1325880" cy="1325880"/>
          </a:xfrm>
          <a:prstGeom prst="ellipse">
            <a:avLst/>
          </a:prstGeom>
          <a:solidFill>
            <a:srgbClr val="20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953244" y="2912364"/>
            <a:ext cx="438912" cy="438912"/>
          </a:xfrm>
          <a:prstGeom prst="ellipse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8640" y="64008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2C7EF"/>
                </a:solidFill>
                <a:latin typeface="Arial"/>
              </a:rPr>
              <a:t>AVM INTELLIGENCE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1417320"/>
            <a:ext cx="713232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4F4F4"/>
                </a:solidFill>
                <a:latin typeface="Arial"/>
              </a:rPr>
              <a:t>The metadata
question became
a factory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160520"/>
            <a:ext cx="841248" cy="59436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66928" y="4407408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1A7AE"/>
                </a:solidFill>
                <a:latin typeface="Arial"/>
              </a:rPr>
              <a:t>12 May – 12 October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5047488"/>
            <a:ext cx="6080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4F4F4"/>
                </a:solidFill>
                <a:latin typeface="Arial"/>
              </a:rPr>
              <a:t>A timeline of the architecture, the problems it solved, and the destination it was built for.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01</a:t>
            </a:r>
          </a:p>
        </p:txBody>
      </p:sp>
      <p:pic>
        <p:nvPicPr>
          <p:cNvPr id="75" name="Picture 74" descr="softwareo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5980176"/>
            <a:ext cx="1005840" cy="3534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THE QUESTION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ORIGIN / THE EVALUATION QUESTION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02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One question stayed constant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How can a platform team judge a fleet of Terraform modules without maintaining each repository by hand?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1938528"/>
            <a:ext cx="6492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4F4"/>
                </a:solidFill>
                <a:latin typeface="Arial"/>
              </a:rPr>
              <a:t>“How good are the modules, actually?”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3246120"/>
            <a:ext cx="557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1A7AE"/>
                </a:solidFill>
                <a:latin typeface="Arial"/>
              </a:rPr>
              <a:t>The catalog was not enough. Each module lived in its own repository, with its own release cadence and evidence.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95160" y="2130552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69480" y="231343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2C7EF"/>
                </a:solidFill>
                <a:latin typeface="Arial"/>
              </a:rPr>
              <a:t>CURRENCY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228600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4F4"/>
                </a:solidFill>
                <a:latin typeface="Arial"/>
              </a:rPr>
              <a:t>Which source revision is current?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95160" y="3090672"/>
            <a:ext cx="4526280" cy="1024128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327355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QUALITY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324612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4F4"/>
                </a:solidFill>
                <a:latin typeface="Arial"/>
              </a:rPr>
              <a:t>What can be checked from source?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95160" y="4398264"/>
            <a:ext cx="4526280" cy="1024128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269480" y="458114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8F92"/>
                </a:solidFill>
                <a:latin typeface="Arial"/>
              </a:rPr>
              <a:t>VISIBILITY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553712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4F4"/>
                </a:solidFill>
                <a:latin typeface="Arial"/>
              </a:rPr>
              <a:t>Can a team review the fleet as a whole?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FOUR ITERATIONS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TIMELINE / FOUR ITERATIONS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03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Four iterations, one evolving runtime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The commits mark when work entered each repository; they do not prove every workflow succeeded.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8680" y="2926080"/>
            <a:ext cx="10424160" cy="0"/>
          </a:xfrm>
          <a:prstGeom prst="line">
            <a:avLst/>
          </a:prstGeom>
          <a:ln w="25400">
            <a:solidFill>
              <a:srgbClr val="5A6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58952" y="2770632"/>
            <a:ext cx="310896" cy="310896"/>
          </a:xfrm>
          <a:prstGeom prst="ellipse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5800" y="2267712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7675E"/>
                </a:solidFill>
                <a:latin typeface="Arial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324612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12–19 MAY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3575304"/>
            <a:ext cx="2560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hu-HU" sz="1500" b="1" i="0" dirty="0">
                <a:solidFill>
                  <a:srgbClr val="F4F4F4"/>
                </a:solidFill>
                <a:latin typeface="Arial"/>
              </a:rPr>
              <a:t>The </a:t>
            </a:r>
            <a:r>
              <a:rPr lang="hu-HU" sz="1500" b="1" i="0" dirty="0" err="1">
                <a:solidFill>
                  <a:srgbClr val="F4F4F4"/>
                </a:solidFill>
                <a:latin typeface="Arial"/>
              </a:rPr>
              <a:t>Proof</a:t>
            </a:r>
            <a:endParaRPr sz="1500" b="1" i="0" dirty="0">
              <a:solidFill>
                <a:srgbClr val="F4F4F4"/>
              </a:solidFill>
              <a:latin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5800" y="4087368"/>
            <a:ext cx="24231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hu-HU" sz="1250" b="0" i="0" dirty="0">
                <a:solidFill>
                  <a:srgbClr val="A1A7AE"/>
                </a:solidFill>
                <a:latin typeface="Arial"/>
              </a:rPr>
              <a:t>AVM </a:t>
            </a:r>
            <a:r>
              <a:rPr lang="hu-HU" sz="1250" b="0" i="0" dirty="0" err="1">
                <a:solidFill>
                  <a:srgbClr val="A1A7AE"/>
                </a:solidFill>
                <a:latin typeface="Arial"/>
              </a:rPr>
              <a:t>modules</a:t>
            </a:r>
            <a:r>
              <a:rPr lang="hu-HU" sz="1250" b="0" i="0" dirty="0">
                <a:solidFill>
                  <a:srgbClr val="A1A7AE"/>
                </a:solidFill>
                <a:latin typeface="Arial"/>
              </a:rPr>
              <a:t> </a:t>
            </a:r>
            <a:r>
              <a:rPr lang="hu-HU" sz="1250" b="0" i="0" dirty="0" err="1">
                <a:solidFill>
                  <a:srgbClr val="A1A7AE"/>
                </a:solidFill>
                <a:latin typeface="Arial"/>
              </a:rPr>
              <a:t>evaluation</a:t>
            </a:r>
            <a:endParaRPr sz="1250" b="0" i="0" dirty="0">
              <a:solidFill>
                <a:srgbClr val="A1A7AE"/>
              </a:solidFill>
              <a:latin typeface="Arial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621024" y="2770632"/>
            <a:ext cx="310896" cy="310896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547872" y="2267712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2C7EF"/>
                </a:solidFill>
                <a:latin typeface="Arial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47872" y="324612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2C7EF"/>
                </a:solidFill>
                <a:latin typeface="Arial"/>
              </a:rPr>
              <a:t>JUN–SEP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3575304"/>
            <a:ext cx="2560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hu-HU" sz="1500" b="1" i="0" dirty="0">
                <a:solidFill>
                  <a:srgbClr val="F4F4F4"/>
                </a:solidFill>
                <a:latin typeface="Arial"/>
              </a:rPr>
              <a:t>The Real World</a:t>
            </a:r>
            <a:endParaRPr sz="1500" b="1" i="0" dirty="0">
              <a:solidFill>
                <a:srgbClr val="F4F4F4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47872" y="4087368"/>
            <a:ext cx="24231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hu-HU" sz="1250" b="0" i="0" dirty="0" err="1">
                <a:solidFill>
                  <a:srgbClr val="A1A7AE"/>
                </a:solidFill>
                <a:latin typeface="Arial"/>
              </a:rPr>
              <a:t>Private</a:t>
            </a:r>
            <a:r>
              <a:rPr sz="1250" b="0" i="0" dirty="0">
                <a:solidFill>
                  <a:srgbClr val="A1A7AE"/>
                </a:solidFill>
                <a:latin typeface="Arial"/>
              </a:rPr>
              <a:t> fleet</a:t>
            </a:r>
            <a:r>
              <a:rPr lang="hu-HU" sz="1250" dirty="0">
                <a:solidFill>
                  <a:srgbClr val="A1A7AE"/>
                </a:solidFill>
                <a:latin typeface="Arial"/>
              </a:rPr>
              <a:t> </a:t>
            </a:r>
            <a:r>
              <a:rPr lang="hu-HU" sz="1250" dirty="0" err="1">
                <a:solidFill>
                  <a:srgbClr val="A1A7AE"/>
                </a:solidFill>
                <a:latin typeface="Arial"/>
              </a:rPr>
              <a:t>on</a:t>
            </a:r>
            <a:r>
              <a:rPr lang="hu-HU" sz="1250" dirty="0">
                <a:solidFill>
                  <a:srgbClr val="A1A7AE"/>
                </a:solidFill>
                <a:latin typeface="Arial"/>
              </a:rPr>
              <a:t> </a:t>
            </a:r>
            <a:r>
              <a:rPr lang="hu-HU" sz="1250" dirty="0" err="1">
                <a:solidFill>
                  <a:srgbClr val="A1A7AE"/>
                </a:solidFill>
                <a:latin typeface="Arial"/>
              </a:rPr>
              <a:t>Azure</a:t>
            </a:r>
            <a:r>
              <a:rPr lang="hu-HU" sz="1250" dirty="0">
                <a:solidFill>
                  <a:srgbClr val="A1A7AE"/>
                </a:solidFill>
                <a:latin typeface="Arial"/>
              </a:rPr>
              <a:t> </a:t>
            </a:r>
            <a:r>
              <a:rPr lang="hu-HU" sz="1250" dirty="0" err="1">
                <a:solidFill>
                  <a:srgbClr val="A1A7AE"/>
                </a:solidFill>
                <a:latin typeface="Arial"/>
              </a:rPr>
              <a:t>DevOps</a:t>
            </a:r>
            <a:endParaRPr sz="1250" b="0" i="0" dirty="0">
              <a:solidFill>
                <a:srgbClr val="A1A7AE"/>
              </a:solidFill>
              <a:latin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6483096" y="2770632"/>
            <a:ext cx="310896" cy="310896"/>
          </a:xfrm>
          <a:prstGeom prst="ellipse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9944" y="2267712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C8F92"/>
                </a:solidFill>
                <a:latin typeface="Arial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9944" y="324612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8F92"/>
                </a:solidFill>
                <a:latin typeface="Arial"/>
              </a:rPr>
              <a:t>27–30 SEP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9944" y="3575304"/>
            <a:ext cx="2560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hu-HU" sz="1500" b="1" i="0" dirty="0">
                <a:solidFill>
                  <a:srgbClr val="F4F4F4"/>
                </a:solidFill>
                <a:latin typeface="Arial"/>
              </a:rPr>
              <a:t>The </a:t>
            </a:r>
            <a:r>
              <a:rPr lang="hu-HU" sz="1500" b="1" dirty="0" err="1">
                <a:solidFill>
                  <a:srgbClr val="F4F4F4"/>
                </a:solidFill>
                <a:latin typeface="Arial"/>
              </a:rPr>
              <a:t>S</a:t>
            </a:r>
            <a:r>
              <a:rPr lang="hu-HU" sz="1500" b="1" i="0" dirty="0" err="1">
                <a:solidFill>
                  <a:srgbClr val="F4F4F4"/>
                </a:solidFill>
                <a:latin typeface="Arial"/>
              </a:rPr>
              <a:t>idequest</a:t>
            </a:r>
            <a:endParaRPr sz="1500" b="1" i="0" dirty="0">
              <a:solidFill>
                <a:srgbClr val="F4F4F4"/>
              </a:solidFill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09944" y="4087368"/>
            <a:ext cx="24231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 dirty="0">
                <a:solidFill>
                  <a:srgbClr val="A1A7AE"/>
                </a:solidFill>
                <a:latin typeface="Arial"/>
              </a:rPr>
              <a:t>Go parser </a:t>
            </a:r>
            <a:r>
              <a:rPr lang="hu-HU" sz="1250" b="0" i="0" dirty="0" err="1">
                <a:solidFill>
                  <a:srgbClr val="A1A7AE"/>
                </a:solidFill>
                <a:latin typeface="Arial"/>
              </a:rPr>
              <a:t>with</a:t>
            </a:r>
            <a:r>
              <a:rPr sz="1250" b="0" i="0" dirty="0">
                <a:solidFill>
                  <a:srgbClr val="A1A7AE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A1A7AE"/>
                </a:solidFill>
                <a:latin typeface="Arial"/>
              </a:rPr>
              <a:t>Jev</a:t>
            </a:r>
            <a:r>
              <a:rPr sz="1250" b="0" i="0" dirty="0">
                <a:solidFill>
                  <a:srgbClr val="A1A7AE"/>
                </a:solidFill>
                <a:latin typeface="Arial"/>
              </a:rPr>
              <a:t> classifier</a:t>
            </a:r>
          </a:p>
        </p:txBody>
      </p:sp>
      <p:sp>
        <p:nvSpPr>
          <p:cNvPr id="64" name="Oval 63"/>
          <p:cNvSpPr/>
          <p:nvPr/>
        </p:nvSpPr>
        <p:spPr>
          <a:xfrm>
            <a:off x="9345168" y="2770632"/>
            <a:ext cx="310896" cy="310896"/>
          </a:xfrm>
          <a:prstGeom prst="ellipse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72016" y="2267712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366FF"/>
                </a:solidFill>
                <a:latin typeface="Arial"/>
              </a:rPr>
              <a:t>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72016" y="324612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366FF"/>
                </a:solidFill>
                <a:latin typeface="Arial"/>
              </a:rPr>
              <a:t>28 SEP–12 OCT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72016" y="3575304"/>
            <a:ext cx="2560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hu-HU" sz="1500" b="1" i="0" dirty="0">
                <a:solidFill>
                  <a:srgbClr val="F4F4F4"/>
                </a:solidFill>
                <a:latin typeface="Arial"/>
              </a:rPr>
              <a:t>The </a:t>
            </a:r>
            <a:r>
              <a:rPr lang="hu-HU" sz="1500" b="1" i="0" dirty="0" err="1">
                <a:solidFill>
                  <a:srgbClr val="F4F4F4"/>
                </a:solidFill>
                <a:latin typeface="Arial"/>
              </a:rPr>
              <a:t>Factory</a:t>
            </a:r>
            <a:endParaRPr sz="1500" b="1" i="0" dirty="0">
              <a:solidFill>
                <a:srgbClr val="F4F4F4"/>
              </a:solidFill>
              <a:latin typeface="Arial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272016" y="4087368"/>
            <a:ext cx="24231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 dirty="0">
                <a:solidFill>
                  <a:srgbClr val="A1A7AE"/>
                </a:solidFill>
                <a:latin typeface="Arial"/>
              </a:rPr>
              <a:t>Go factory </a:t>
            </a:r>
            <a:r>
              <a:rPr lang="hu-HU" sz="1250" b="0" i="0" dirty="0" err="1">
                <a:solidFill>
                  <a:srgbClr val="A1A7AE"/>
                </a:solidFill>
                <a:latin typeface="Arial"/>
              </a:rPr>
              <a:t>with</a:t>
            </a:r>
            <a:r>
              <a:rPr lang="hu-HU" sz="1250" b="0" i="0" dirty="0">
                <a:solidFill>
                  <a:srgbClr val="A1A7AE"/>
                </a:solidFill>
                <a:latin typeface="Arial"/>
              </a:rPr>
              <a:t> </a:t>
            </a:r>
            <a:r>
              <a:rPr lang="hu-HU" sz="1250" b="0" i="0" dirty="0" err="1">
                <a:solidFill>
                  <a:srgbClr val="A1A7AE"/>
                </a:solidFill>
                <a:latin typeface="Arial"/>
              </a:rPr>
              <a:t>durable</a:t>
            </a:r>
            <a:r>
              <a:rPr lang="hu-HU" sz="1250" b="0" i="0" dirty="0">
                <a:solidFill>
                  <a:srgbClr val="A1A7AE"/>
                </a:solidFill>
                <a:latin typeface="Arial"/>
              </a:rPr>
              <a:t> </a:t>
            </a:r>
            <a:r>
              <a:rPr lang="hu-HU" sz="1250" b="0" i="0" dirty="0" err="1">
                <a:solidFill>
                  <a:srgbClr val="A1A7AE"/>
                </a:solidFill>
                <a:latin typeface="Arial"/>
              </a:rPr>
              <a:t>state</a:t>
            </a:r>
            <a:endParaRPr sz="1250" b="0" i="0" dirty="0">
              <a:solidFill>
                <a:srgbClr val="A1A7AE"/>
              </a:solidFill>
              <a:latin typeface="Arial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31520" y="5413248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4F4F4"/>
                </a:solidFill>
                <a:latin typeface="Arial"/>
              </a:rPr>
              <a:t>From a person-run workspace to a durable, staged factory.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rth_phase_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4F4F4"/>
                </a:solidFill>
                <a:latin typeface="Arial"/>
              </a:rPr>
              <a:t>THE PROOF  /  PHASE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1298448"/>
            <a:ext cx="70408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rgbClr val="F4F4F4"/>
                </a:solidFill>
                <a:latin typeface="Arial"/>
              </a:rPr>
              <a:t>The 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" y="2148840"/>
            <a:ext cx="69951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 err="1">
                <a:solidFill>
                  <a:srgbClr val="A1A7AE"/>
                </a:solidFill>
                <a:latin typeface="Arial"/>
              </a:rPr>
              <a:t>avm</a:t>
            </a:r>
            <a:r>
              <a:rPr sz="1300" b="1" i="0" dirty="0">
                <a:solidFill>
                  <a:srgbClr val="A1A7AE"/>
                </a:solidFill>
                <a:latin typeface="Arial"/>
              </a:rPr>
              <a:t>-metadata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" y="2660904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A1A7AE"/>
                </a:solidFill>
                <a:latin typeface="Arial"/>
              </a:rPr>
              <a:t>12–19 May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" y="3191256"/>
            <a:ext cx="841248" cy="50292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8" y="3520440"/>
            <a:ext cx="653796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4F4"/>
                </a:solidFill>
                <a:latin typeface="Arial"/>
              </a:rPr>
              <a:t>The first workspace turned separate AVM repositories into a catalog that could be synced, analyzed, and reviewed.</a:t>
            </a:r>
          </a:p>
        </p:txBody>
      </p:sp>
      <p:sp>
        <p:nvSpPr>
          <p:cNvPr id="48" name="Oval 47"/>
          <p:cNvSpPr/>
          <p:nvPr/>
        </p:nvSpPr>
        <p:spPr>
          <a:xfrm>
            <a:off x="8302752" y="1508760"/>
            <a:ext cx="3063240" cy="306324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38160" y="106984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SCAN TO OPEN REPOSITORY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08" y="1977463"/>
            <a:ext cx="2144415" cy="214441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138160" y="4718304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4F4F4"/>
                </a:solidFill>
                <a:latin typeface="Arial"/>
              </a:rPr>
              <a:t>PUBLIC ARCHIVE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45552" y="5001768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A1A7AE"/>
                </a:solidFill>
                <a:latin typeface="Arial"/>
              </a:rPr>
              <a:t>Crayon-HU/avm-metadata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6510528"/>
            <a:ext cx="11420856" cy="7315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4F4F4"/>
                </a:solidFill>
                <a:latin typeface="Arial"/>
              </a:rPr>
              <a:t>THE PROOF / AVM-METADATA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04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ITERATION 1 · MAY 2026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PROOF / FIRST CATALOG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05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First: make the fleet visible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avm-metadata · 12–19 May 2026 · public archive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05740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 i="0">
                <a:solidFill>
                  <a:srgbClr val="F7675E"/>
                </a:solidFill>
                <a:latin typeface="Arial"/>
              </a:rPr>
              <a:t>148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2971800"/>
            <a:ext cx="246888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4F4"/>
                </a:solidFill>
                <a:latin typeface="Arial"/>
              </a:rPr>
              <a:t>repositories in the platform-team framing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246120" y="1947672"/>
            <a:ext cx="0" cy="3502152"/>
          </a:xfrm>
          <a:prstGeom prst="line">
            <a:avLst/>
          </a:prstGeom>
          <a:ln w="12700">
            <a:solidFill>
              <a:srgbClr val="454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657600" y="192024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657600" y="1920240"/>
            <a:ext cx="50292" cy="1600200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67912" y="2093976"/>
            <a:ext cx="3017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2C7EF"/>
                </a:solidFill>
                <a:latin typeface="Arial"/>
              </a:rPr>
              <a:t>FIRST MOVE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67912" y="2368296"/>
            <a:ext cx="3017520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A local catalog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67912" y="2898648"/>
            <a:ext cx="300837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1A7AE"/>
                </a:solidFill>
                <a:latin typeface="Arial"/>
              </a:rPr>
              <a:t>Sync AVM CSVs, store module metadata, and clone repositories into one workspace.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0" y="1920240"/>
            <a:ext cx="4160520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315200" y="1920240"/>
            <a:ext cx="50292" cy="1600200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25512" y="2093976"/>
            <a:ext cx="3749039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C8F92"/>
                </a:solidFill>
                <a:latin typeface="Arial"/>
              </a:rPr>
              <a:t>WHAT SHIPPED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25512" y="2368296"/>
            <a:ext cx="3749039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Seven analysis dimensions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25512" y="2898648"/>
            <a:ext cx="373989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1A7AE"/>
                </a:solidFill>
                <a:latin typeface="Arial"/>
              </a:rPr>
              <a:t>Coverage, documentation, required interface, provider pins and more; a static portal surfaced findings.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0" y="3931920"/>
            <a:ext cx="7818120" cy="1188720"/>
          </a:xfrm>
          <a:prstGeom prst="roundRect">
            <a:avLst>
              <a:gd name="adj" fmla="val 8000"/>
            </a:avLst>
          </a:prstGeom>
          <a:solidFill>
            <a:srgbClr val="1A1D21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13632" y="41605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The limit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4133087"/>
            <a:ext cx="5897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4F4"/>
                </a:solidFill>
                <a:latin typeface="Arial"/>
              </a:rPr>
              <a:t>Useful for a person at a laptop. Scraping and analysis were local, with no durable queue.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1A7AE"/>
                </a:solidFill>
                <a:latin typeface="Arial"/>
              </a:rPr>
              <a:t>ITERATION 1 · MAY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4F4"/>
                </a:solidFill>
                <a:latin typeface="Arial"/>
              </a:rPr>
              <a:t>Turn separate repositories into one working 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7AE"/>
                </a:solidFill>
                <a:latin typeface="Arial"/>
              </a:rPr>
              <a:t>The first improvement was operational: make the AVM fleet consistent enough to inspect and compare.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73952"/>
            <a:ext cx="11420856" cy="10972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3192" y="6574536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4F4F4"/>
                </a:solidFill>
                <a:latin typeface="Arial"/>
              </a:rPr>
              <a:t>THE PROOF / SYNC AND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1A7AE"/>
                </a:solidFill>
                <a:latin typeface="Arial"/>
              </a:rPr>
              <a:t>06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8368" y="2212848"/>
            <a:ext cx="3456432" cy="2103120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" y="2212848"/>
            <a:ext cx="50292" cy="2103120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7824" y="2414016"/>
            <a:ext cx="30175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2C7EF"/>
                </a:solidFill>
                <a:latin typeface="Arial"/>
              </a:rPr>
              <a:t>01  ·  SYNC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" y="2734056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4F4"/>
                </a:solidFill>
                <a:latin typeface="Arial"/>
              </a:rPr>
              <a:t>A catalog you can refresh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" y="3300984"/>
            <a:ext cx="3017520" cy="877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7AE"/>
                </a:solidFill>
                <a:latin typeface="Arial"/>
              </a:rPr>
              <a:t>Read the official AVM index CSVs. Keep Available modules by default; opt into Proposed when needed. Store one YAML record per module.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70832" y="2212848"/>
            <a:ext cx="3456432" cy="2103120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70832" y="2212848"/>
            <a:ext cx="50292" cy="2103120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90288" y="2414016"/>
            <a:ext cx="30175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8F92"/>
                </a:solidFill>
                <a:latin typeface="Arial"/>
              </a:rPr>
              <a:t>02  ·  WORKSPACE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0288" y="2734056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4F4"/>
                </a:solidFill>
                <a:latin typeface="Arial"/>
              </a:rPr>
              <a:t>Operate the fleet together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90288" y="3300984"/>
            <a:ext cx="3017520" cy="877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7AE"/>
                </a:solidFill>
                <a:latin typeface="Arial"/>
              </a:rPr>
              <a:t>Clone and fetch repositories, inspect status and branches, stash work, and clean up from one multi-root workspace instead of repeating it by hand.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83296" y="2212848"/>
            <a:ext cx="3456432" cy="2103120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83296" y="2212848"/>
            <a:ext cx="50292" cy="2103120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02752" y="2414016"/>
            <a:ext cx="30175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7675E"/>
                </a:solidFill>
                <a:latin typeface="Arial"/>
              </a:rPr>
              <a:t>03  ·  ANALYZE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02752" y="2734056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4F4"/>
                </a:solidFill>
                <a:latin typeface="Arial"/>
              </a:rPr>
              <a:t>Reuse the same checks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02752" y="3300984"/>
            <a:ext cx="3017520" cy="877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7AE"/>
                </a:solidFill>
                <a:latin typeface="Arial"/>
              </a:rPr>
              <a:t>Seven analysis dimensions assessed the modules. Provider currency could be checked without cloning; /avm-sync and /avm-check called the same scripts.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4663440"/>
            <a:ext cx="10881360" cy="786384"/>
          </a:xfrm>
          <a:prstGeom prst="roundRect">
            <a:avLst/>
          </a:prstGeom>
          <a:solidFill>
            <a:srgbClr val="111316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6112" y="4864608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0A7FF"/>
                </a:solidFill>
                <a:latin typeface="Arial"/>
              </a:rPr>
              <a:t>THE DESIGN CHOICE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8608" y="480060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F4F4"/>
                </a:solidFill>
                <a:latin typeface="Arial"/>
              </a:rPr>
              <a:t>Copilot skills were an interface to deterministic scripts, not a model-only analysis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1A7AE"/>
                </a:solidFill>
                <a:latin typeface="Arial"/>
              </a:rPr>
              <a:t>ITERATION 1 · MAY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4F4"/>
                </a:solidFill>
                <a:latin typeface="Arial"/>
              </a:rPr>
              <a:t>Make the evidence useful to a platform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7AE"/>
                </a:solidFill>
                <a:latin typeface="Arial"/>
              </a:rPr>
              <a:t>A static portal brought the catalog, quality signals, and recent movement into one place.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73952"/>
            <a:ext cx="11420856" cy="10972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3192" y="6574536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4F4F4"/>
                </a:solidFill>
                <a:latin typeface="Arial"/>
              </a:rPr>
              <a:t>THE PROOF / PORTAL AND NEXT STEP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1A7AE"/>
                </a:solidFill>
                <a:latin typeface="Arial"/>
              </a:rPr>
              <a:t>07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8368" y="2157984"/>
            <a:ext cx="3456432" cy="202996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" y="2157984"/>
            <a:ext cx="50292" cy="2029968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7824" y="2359152"/>
            <a:ext cx="30175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2C7EF"/>
                </a:solidFill>
                <a:latin typeface="Arial"/>
              </a:rPr>
              <a:t>BROWSE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" y="2679191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4F4"/>
                </a:solidFill>
                <a:latin typeface="Arial"/>
              </a:rPr>
              <a:t>Know what is in the fleet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" y="3246120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7AE"/>
                </a:solidFill>
                <a:latin typeface="Arial"/>
              </a:rPr>
              <a:t>A searchable catalog and resource treemap made separate module repositories easier to navigate.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70832" y="2157984"/>
            <a:ext cx="3456432" cy="202996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70832" y="2157984"/>
            <a:ext cx="50292" cy="2029968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90288" y="2359152"/>
            <a:ext cx="30175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8F92"/>
                </a:solidFill>
                <a:latin typeface="Arial"/>
              </a:rPr>
              <a:t>COMPARE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0288" y="2679191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4F4"/>
                </a:solidFill>
                <a:latin typeface="Arial"/>
              </a:rPr>
              <a:t>See quality signals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90288" y="3246120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7AE"/>
                </a:solidFill>
                <a:latin typeface="Arial"/>
              </a:rPr>
              <a:t>A quality scoreboard brought together coverage, documentation, required interface, provider pins, and other analysis findings.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83296" y="2157984"/>
            <a:ext cx="3456432" cy="202996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83296" y="2157984"/>
            <a:ext cx="50292" cy="2029968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02752" y="2359152"/>
            <a:ext cx="30175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7675E"/>
                </a:solidFill>
                <a:latin typeface="Arial"/>
              </a:rPr>
              <a:t>FOLLOW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02752" y="2679191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4F4"/>
                </a:solidFill>
                <a:latin typeface="Arial"/>
              </a:rPr>
              <a:t>Track change over 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02752" y="3246120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7AE"/>
                </a:solidFill>
                <a:latin typeface="Arial"/>
              </a:rPr>
              <a:t>Provider-currency findings, known issues, and a 90-day activity feed gave reviewers context beyond a single score.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4553712"/>
            <a:ext cx="10881360" cy="896112"/>
          </a:xfrm>
          <a:prstGeom prst="roundRect">
            <a:avLst/>
          </a:prstGeom>
          <a:solidFill>
            <a:srgbClr val="111316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6112" y="4745736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0A7FF"/>
                </a:solidFill>
                <a:latin typeface="Arial"/>
              </a:rPr>
              <a:t>NEXT PRODUCT IDEA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8608" y="469087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Sync findings to GitHub Issues and a Project board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09560" y="4773168"/>
            <a:ext cx="3154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7675E"/>
                </a:solidFill>
                <a:latin typeface="Arial"/>
              </a:rPr>
              <a:t>PROPOSED · NOT SHIPPED HERE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" y="5641848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7AE"/>
                </a:solidFill>
                <a:latin typeface="Arial"/>
              </a:rPr>
              <a:t>The portal made findings visible; collection and analysis were still local, with no durable queue.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rth_phas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4F4F4"/>
                </a:solidFill>
                <a:latin typeface="Arial"/>
              </a:rPr>
              <a:t>THE REAL WORLD  /  PHASE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1298448"/>
            <a:ext cx="70408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hu-HU" sz="2700" b="1" i="0" dirty="0">
                <a:solidFill>
                  <a:srgbClr val="F4F4F4"/>
                </a:solidFill>
                <a:latin typeface="Arial"/>
              </a:rPr>
              <a:t>The Real World</a:t>
            </a:r>
            <a:endParaRPr sz="2700" b="1" i="0" dirty="0">
              <a:solidFill>
                <a:srgbClr val="F4F4F4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0664" y="2148840"/>
            <a:ext cx="6995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hu-HU" sz="1400" dirty="0" err="1">
                <a:solidFill>
                  <a:srgbClr val="A1A7AE"/>
                </a:solidFill>
                <a:latin typeface="Arial"/>
              </a:rPr>
              <a:t>Private</a:t>
            </a:r>
            <a:r>
              <a:rPr lang="hu-HU" sz="1400" dirty="0">
                <a:solidFill>
                  <a:srgbClr val="A1A7AE"/>
                </a:solidFill>
                <a:latin typeface="Arial"/>
              </a:rPr>
              <a:t> </a:t>
            </a:r>
            <a:r>
              <a:rPr lang="hu-HU" sz="1400" dirty="0" err="1">
                <a:solidFill>
                  <a:srgbClr val="A1A7AE"/>
                </a:solidFill>
                <a:latin typeface="Arial"/>
              </a:rPr>
              <a:t>fleet</a:t>
            </a:r>
            <a:r>
              <a:rPr lang="hu-HU" sz="1400" dirty="0">
                <a:solidFill>
                  <a:srgbClr val="A1A7AE"/>
                </a:solidFill>
                <a:latin typeface="Arial"/>
              </a:rPr>
              <a:t> </a:t>
            </a:r>
            <a:r>
              <a:rPr lang="hu-HU" sz="1400" dirty="0" err="1">
                <a:solidFill>
                  <a:srgbClr val="A1A7AE"/>
                </a:solidFill>
                <a:latin typeface="Arial"/>
              </a:rPr>
              <a:t>on</a:t>
            </a:r>
            <a:r>
              <a:rPr lang="hu-HU" sz="1400" dirty="0">
                <a:solidFill>
                  <a:srgbClr val="A1A7AE"/>
                </a:solidFill>
                <a:latin typeface="Arial"/>
              </a:rPr>
              <a:t> </a:t>
            </a:r>
            <a:r>
              <a:rPr lang="hu-HU" sz="1400" dirty="0" err="1">
                <a:solidFill>
                  <a:srgbClr val="A1A7AE"/>
                </a:solidFill>
                <a:latin typeface="Arial"/>
              </a:rPr>
              <a:t>Azure</a:t>
            </a:r>
            <a:r>
              <a:rPr lang="hu-HU" sz="1400" dirty="0">
                <a:solidFill>
                  <a:srgbClr val="A1A7AE"/>
                </a:solidFill>
                <a:latin typeface="Arial"/>
              </a:rPr>
              <a:t> </a:t>
            </a:r>
            <a:r>
              <a:rPr lang="hu-HU" sz="1400" dirty="0" err="1">
                <a:solidFill>
                  <a:srgbClr val="A1A7AE"/>
                </a:solidFill>
                <a:latin typeface="Arial"/>
              </a:rPr>
              <a:t>DevOps</a:t>
            </a:r>
            <a:endParaRPr lang="hu-HU" sz="1400" dirty="0">
              <a:solidFill>
                <a:srgbClr val="A1A7AE"/>
              </a:solidFill>
              <a:latin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0664" y="2660904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A1A7AE"/>
                </a:solidFill>
                <a:latin typeface="Arial"/>
              </a:rPr>
              <a:t>3 June – 15 September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" y="3191256"/>
            <a:ext cx="841248" cy="50292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8" y="3520440"/>
            <a:ext cx="653796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4F4"/>
                </a:solidFill>
                <a:latin typeface="Arial"/>
              </a:rPr>
              <a:t>The same idea moved into a client environment and expanded across a 147-module Azure, AWS, and GCP fleet.</a:t>
            </a:r>
          </a:p>
        </p:txBody>
      </p:sp>
      <p:sp>
        <p:nvSpPr>
          <p:cNvPr id="48" name="Oval 47"/>
          <p:cNvSpPr/>
          <p:nvPr/>
        </p:nvSpPr>
        <p:spPr>
          <a:xfrm>
            <a:off x="8302752" y="1508760"/>
            <a:ext cx="3063240" cy="306324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31936" y="2240280"/>
            <a:ext cx="2423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 dirty="0">
                <a:solidFill>
                  <a:srgbClr val="000000"/>
                </a:solidFill>
                <a:latin typeface="Arial"/>
              </a:rPr>
              <a:t>147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31936" y="3089235"/>
            <a:ext cx="24231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D5056"/>
                </a:solidFill>
                <a:latin typeface="Arial"/>
              </a:rPr>
              <a:t>MANAGED MODULES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31352" y="3520440"/>
            <a:ext cx="26060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 dirty="0">
                <a:solidFill>
                  <a:srgbClr val="4D5056"/>
                </a:solidFill>
                <a:latin typeface="Arial"/>
              </a:rPr>
              <a:t>Azure · AWS · GCP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" y="6510528"/>
            <a:ext cx="11420856" cy="7315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4F4F4"/>
                </a:solidFill>
                <a:latin typeface="Arial"/>
              </a:rPr>
              <a:t>THE REAL WORLD / PRIVATE FLEET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08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ITERATION 2 · JUN–SEP 2026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REAL WORLD / FLEET COVERAGE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09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Then: prove the workflow on a real fleet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private-modules-metadata · private Azure DevOps repository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1828800"/>
            <a:ext cx="1993392" cy="10515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9525">
            <a:solidFill>
              <a:srgbClr val="35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8952" y="1947672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62C7EF"/>
                </a:solidFill>
                <a:latin typeface="Arial"/>
              </a:rPr>
              <a:t>147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" y="249631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1A7AE"/>
                </a:solidFill>
                <a:latin typeface="Arial"/>
              </a:rPr>
              <a:t>modules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62072" y="1828800"/>
            <a:ext cx="1993392" cy="10515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9525">
            <a:solidFill>
              <a:srgbClr val="35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26664" y="1947672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7675E"/>
                </a:solidFill>
                <a:latin typeface="Arial"/>
              </a:rPr>
              <a:t>59%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26664" y="249631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1A7AE"/>
                </a:solidFill>
                <a:latin typeface="Arial"/>
              </a:rPr>
              <a:t>Azure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29784" y="1828800"/>
            <a:ext cx="1993392" cy="10515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9525">
            <a:solidFill>
              <a:srgbClr val="35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94376" y="1947672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C8F92"/>
                </a:solidFill>
                <a:latin typeface="Arial"/>
              </a:rPr>
              <a:t>19%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94376" y="249631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1A7AE"/>
                </a:solidFill>
                <a:latin typeface="Arial"/>
              </a:rPr>
              <a:t>AWS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97496" y="1828800"/>
            <a:ext cx="1993392" cy="10515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9525">
            <a:solidFill>
              <a:srgbClr val="35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62088" y="1947672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366FF"/>
                </a:solidFill>
                <a:latin typeface="Arial"/>
              </a:rPr>
              <a:t>18%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62088" y="249631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1A7AE"/>
                </a:solidFill>
                <a:latin typeface="Arial"/>
              </a:rPr>
              <a:t>GCP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65208" y="1828800"/>
            <a:ext cx="1993392" cy="10515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9525">
            <a:solidFill>
              <a:srgbClr val="35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29800" y="1947672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B0A7FF"/>
                </a:solidFill>
                <a:latin typeface="Arial"/>
              </a:rPr>
              <a:t>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9800" y="249631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1A7AE"/>
                </a:solidFill>
                <a:latin typeface="Arial"/>
              </a:rPr>
              <a:t>other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30358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1A7AE"/>
                </a:solidFill>
                <a:latin typeface="Arial"/>
              </a:rPr>
              <a:t>Rounded shares; one module is counted in more than one platform, so categories overlap.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36576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40080" y="3657600"/>
            <a:ext cx="50292" cy="1600200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0392" y="3831336"/>
            <a:ext cx="3063239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7675E"/>
                </a:solidFill>
                <a:latin typeface="Arial"/>
              </a:rPr>
              <a:t>CAPABILITY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" y="4105656"/>
            <a:ext cx="3063239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More than a scrape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" y="4636008"/>
            <a:ext cx="3054096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1A7AE"/>
                </a:solidFill>
                <a:latin typeface="Arial"/>
              </a:rPr>
              <a:t>Ten analysis runners, provider status, a resource index, and an upgrade graph.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43400" y="36576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343400" y="3657600"/>
            <a:ext cx="50292" cy="1600200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553712" y="3831336"/>
            <a:ext cx="3063239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2C7EF"/>
                </a:solidFill>
                <a:latin typeface="Arial"/>
              </a:rPr>
              <a:t>OPERATING LOOP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53712" y="4105656"/>
            <a:ext cx="3063239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Work had an owner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53712" y="4636008"/>
            <a:ext cx="3054096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1A7AE"/>
                </a:solidFill>
                <a:latin typeface="Arial"/>
              </a:rPr>
              <a:t>Reports could be prioritized, linked to tickets, and presented through a portal.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46720" y="36576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046720" y="3657600"/>
            <a:ext cx="50292" cy="1600200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57032" y="3831336"/>
            <a:ext cx="3063239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C8F92"/>
                </a:solidFill>
                <a:latin typeface="Arial"/>
              </a:rPr>
              <a:t>CONSTRAINT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57032" y="4105656"/>
            <a:ext cx="3063239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Still host-bound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57032" y="4636008"/>
            <a:ext cx="3054096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1A7AE"/>
                </a:solidFill>
                <a:latin typeface="Arial"/>
              </a:rPr>
              <a:t>The private fleet required its client network and authenticated CLI session.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1A7AE"/>
                </a:solidFill>
                <a:latin typeface="Arial"/>
              </a:rPr>
              <a:t>ITERATION 2 · JUN–SEP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4F4"/>
                </a:solidFill>
                <a:latin typeface="Arial"/>
              </a:rPr>
              <a:t>A repository was not always a module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160020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7AE"/>
                </a:solidFill>
                <a:latin typeface="Arial"/>
              </a:rPr>
              <a:t>The AVM starting point assumed one repository maps to one module. The private fleet broke that assumption.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73952"/>
            <a:ext cx="11420856" cy="10972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3192" y="657453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4F4F4"/>
                </a:solidFill>
                <a:latin typeface="Arial"/>
              </a:rPr>
              <a:t>THE REAL WORLD / REPOSITORY SHAPES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1A7AE"/>
                </a:solidFill>
                <a:latin typeface="Arial"/>
              </a:rPr>
              <a:t>10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8368" y="2048256"/>
            <a:ext cx="5285232" cy="138988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" y="2048256"/>
            <a:ext cx="50292" cy="1389888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2203704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2C7EF"/>
                </a:solidFill>
                <a:latin typeface="Arial"/>
              </a:rPr>
              <a:t>ONE ANCHOR · NO INTERNALS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2478024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Single block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2962656"/>
            <a:ext cx="488289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A1A7AE"/>
                </a:solidFill>
                <a:latin typeface="Arial"/>
              </a:rPr>
              <a:t>One public module at the root: the original AVM shape.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99632" y="2048256"/>
            <a:ext cx="5285232" cy="138988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99632" y="2048256"/>
            <a:ext cx="50292" cy="1389888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2203704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C8F92"/>
                </a:solidFill>
                <a:latin typeface="Arial"/>
              </a:rPr>
              <a:t>MULTIPLE PUBLIC ANCHORS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2478024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Multi-block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2962656"/>
            <a:ext cx="488289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A1A7AE"/>
                </a:solidFill>
                <a:latin typeface="Arial"/>
              </a:rPr>
              <a:t>Several callable modules can live side by side in one repository.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3675887"/>
            <a:ext cx="5285232" cy="138988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58368" y="3675887"/>
            <a:ext cx="50292" cy="1389888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" y="3831335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7675E"/>
                </a:solidFill>
                <a:latin typeface="Arial"/>
              </a:rPr>
              <a:t>ONE PUBLIC · INTERNAL MODULES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9536" y="4105655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Parent with submodules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" y="4590288"/>
            <a:ext cx="488289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A1A7AE"/>
                </a:solidFill>
                <a:latin typeface="Arial"/>
              </a:rPr>
              <a:t>Keep internal implementation modules attached to the public parent; do not score them as standalone products.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99632" y="3675887"/>
            <a:ext cx="5285232" cy="138988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199632" y="3675887"/>
            <a:ext cx="50292" cy="1389888"/>
          </a:xfrm>
          <a:prstGeom prst="rect">
            <a:avLst/>
          </a:prstGeom>
          <a:solidFill>
            <a:srgbClr val="B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0" y="3831335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A7FF"/>
                </a:solidFill>
                <a:latin typeface="Arial"/>
              </a:rPr>
              <a:t>PUBLIC AND INTERNAL TOGETHER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105655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Mixed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590288"/>
            <a:ext cx="488289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A1A7AE"/>
                </a:solidFill>
                <a:latin typeface="Arial"/>
              </a:rPr>
              <a:t>Score each public module independently and leave internal modules with the repository.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8368" y="5358384"/>
            <a:ext cx="10826496" cy="603504"/>
          </a:xfrm>
          <a:prstGeom prst="roundRect">
            <a:avLst/>
          </a:prstGeom>
          <a:solidFill>
            <a:srgbClr val="111316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7824" y="55595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2C7EF"/>
                </a:solidFill>
                <a:latin typeface="Arial"/>
              </a:rPr>
              <a:t>SOLUTION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74519" y="54864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4F4F4"/>
                </a:solidFill>
                <a:latin typeface="Arial"/>
              </a:rPr>
              <a:t>Discover anchor.module files; if none exists, keep a visible catalog fallback instead of dropping the repository.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1A7AE"/>
                </a:solidFill>
                <a:latin typeface="Arial"/>
              </a:rPr>
              <a:t>SIX COLLECTORS · THREE SCOPES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4F4"/>
                </a:solidFill>
                <a:latin typeface="Arial"/>
              </a:rPr>
              <a:t>Collect host and source facts once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160020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7AE"/>
                </a:solidFill>
                <a:latin typeface="Arial"/>
              </a:rPr>
              <a:t>Six collectors in three scopes record metadata and status; analysis consumes them to judge.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73952"/>
            <a:ext cx="11420856" cy="10972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3192" y="657453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4F4F4"/>
                </a:solidFill>
                <a:latin typeface="Arial"/>
              </a:rPr>
              <a:t>THE REAL WORLD / EVIDENCE COLLECTION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1A7AE"/>
                </a:solidFill>
                <a:latin typeface="Arial"/>
              </a:rPr>
              <a:t>11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8368" y="2084831"/>
            <a:ext cx="3456432" cy="138988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" y="2084831"/>
            <a:ext cx="50292" cy="1389888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2240279"/>
            <a:ext cx="30540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2C7EF"/>
                </a:solidFill>
                <a:latin typeface="Arial"/>
              </a:rPr>
              <a:t>BUILDING BLOCK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2514600"/>
            <a:ext cx="30540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Terraform metadata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2999232"/>
            <a:ext cx="305409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Versions, providers, resources, calls, variables, and outputs.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70832" y="2084831"/>
            <a:ext cx="3456432" cy="138988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70832" y="2084831"/>
            <a:ext cx="50292" cy="1389888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0" y="2240279"/>
            <a:ext cx="30540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C8F92"/>
                </a:solidFill>
                <a:latin typeface="Arial"/>
              </a:rPr>
              <a:t>REPOSITORY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2514600"/>
            <a:ext cx="30540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Block inventory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2999232"/>
            <a:ext cx="305409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Find anchors and classify public blocks versus internals.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83296" y="2084831"/>
            <a:ext cx="3456432" cy="138988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83296" y="2084831"/>
            <a:ext cx="50292" cy="1389888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84464" y="2240279"/>
            <a:ext cx="30540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7675E"/>
                </a:solidFill>
                <a:latin typeface="Arial"/>
              </a:rPr>
              <a:t>REPOSITORY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2514600"/>
            <a:ext cx="30540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Repository 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4464" y="2999232"/>
            <a:ext cx="305409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Git state plus Azure DevOps policies, builds, reviewers, and security.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3712463"/>
            <a:ext cx="3456432" cy="138988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58368" y="3712463"/>
            <a:ext cx="50292" cy="1389888"/>
          </a:xfrm>
          <a:prstGeom prst="rect">
            <a:avLst/>
          </a:prstGeom>
          <a:solidFill>
            <a:srgbClr val="B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9536" y="3867911"/>
            <a:ext cx="30540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A7FF"/>
                </a:solidFill>
                <a:latin typeface="Arial"/>
              </a:rPr>
              <a:t>REPOSITORY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" y="4142231"/>
            <a:ext cx="30540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Pipeline inventory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" y="4626864"/>
            <a:ext cx="305409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Classify execute, test, release, tag, and security pipeline files.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70832" y="3712463"/>
            <a:ext cx="3456432" cy="138988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370832" y="3712463"/>
            <a:ext cx="50292" cy="1389888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572000" y="3867911"/>
            <a:ext cx="30540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2C7EF"/>
                </a:solidFill>
                <a:latin typeface="Arial"/>
              </a:rPr>
              <a:t>WORKSPACE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4142231"/>
            <a:ext cx="30540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Project status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0" y="4626864"/>
            <a:ext cx="305409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Collect inherited branch policy and build definitions once.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83296" y="3712463"/>
            <a:ext cx="3456432" cy="1389888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083296" y="3712463"/>
            <a:ext cx="50292" cy="1389888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84464" y="3867911"/>
            <a:ext cx="30540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C8F92"/>
                </a:solidFill>
                <a:latin typeface="Arial"/>
              </a:rPr>
              <a:t>WORKSPACE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84464" y="4142231"/>
            <a:ext cx="30540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Provider status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84464" y="4626864"/>
            <a:ext cx="305409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Enrich resource stubs with provider releases, issues, and optional probe results.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394960"/>
            <a:ext cx="10881360" cy="566928"/>
          </a:xfrm>
          <a:prstGeom prst="roundRect">
            <a:avLst/>
          </a:prstGeom>
          <a:solidFill>
            <a:srgbClr val="111316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77824" y="5577840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A7FF"/>
                </a:solidFill>
                <a:latin typeface="Arial"/>
              </a:rPr>
              <a:t>DATA FLOW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11680" y="548640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4F4"/>
                </a:solidFill>
                <a:latin typeface="Arial"/>
              </a:rPr>
              <a:t>Scoped scrape records  →  registered checks  →  evidence-backed result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1A7AE"/>
                </a:solidFill>
                <a:latin typeface="Arial"/>
              </a:rPr>
              <a:t>ANALYSIS SYSTEM · WEIGHTED SCORES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4F4"/>
                </a:solidFill>
                <a:latin typeface="Arial"/>
              </a:rPr>
              <a:t>Ten dimensions, 56 checks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160020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7AE"/>
                </a:solidFill>
                <a:latin typeface="Arial"/>
              </a:rPr>
              <a:t>Encode the team’s standard once, then apply it consistently across the fleet.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73952"/>
            <a:ext cx="11420856" cy="10972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3192" y="657453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4F4F4"/>
                </a:solidFill>
                <a:latin typeface="Arial"/>
              </a:rPr>
              <a:t>THE REAL WORLD / ANALYSIS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1A7AE"/>
                </a:solidFill>
                <a:latin typeface="Arial"/>
              </a:rPr>
              <a:t>12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8368" y="2103120"/>
            <a:ext cx="5285232" cy="1426464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" y="2103120"/>
            <a:ext cx="50292" cy="1426464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2258568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2C7EF"/>
                </a:solidFill>
                <a:latin typeface="Arial"/>
              </a:rPr>
              <a:t>MODULE CONTRACT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2532887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Layout · interface · examples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3017520"/>
            <a:ext cx="4882896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Is the repository usable, are inputs and outputs documented, and do examples have executable test coverage?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99632" y="2103120"/>
            <a:ext cx="5285232" cy="1426464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99632" y="2103120"/>
            <a:ext cx="50292" cy="1426464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2258568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C8F92"/>
                </a:solidFill>
                <a:latin typeface="Arial"/>
              </a:rPr>
              <a:t>DELIVERY PRACTICE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2532887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Pipelines · docs · governance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017520"/>
            <a:ext cx="4882896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Does the team’s build, test, release, branch, and review process meet its own standards?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3730752"/>
            <a:ext cx="5285232" cy="1426464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58368" y="3730752"/>
            <a:ext cx="50292" cy="1426464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" y="3886200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7675E"/>
                </a:solidFill>
                <a:latin typeface="Arial"/>
              </a:rPr>
              <a:t>RISK AND CLASSIFICATION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9536" y="4160520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Security · taxonomy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" y="4645152"/>
            <a:ext cx="4882896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Check secret-shaped values and security automation; keep each module classifiable by platform, domain, and role.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99632" y="3730752"/>
            <a:ext cx="5285232" cy="1426464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199632" y="3730752"/>
            <a:ext cx="50292" cy="1426464"/>
          </a:xfrm>
          <a:prstGeom prst="rect">
            <a:avLst/>
          </a:prstGeom>
          <a:solidFill>
            <a:srgbClr val="B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0" y="3886200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A7FF"/>
                </a:solidFill>
                <a:latin typeface="Arial"/>
              </a:rPr>
              <a:t>PROVIDER SIGNALS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160520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Health · concurrency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645152"/>
            <a:ext cx="4882896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Check minimum/current pins and known breaking changes or critical issues since a person last reviewed a symbol.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8368" y="5449824"/>
            <a:ext cx="10826496" cy="548640"/>
          </a:xfrm>
          <a:prstGeom prst="roundRect">
            <a:avLst/>
          </a:prstGeom>
          <a:solidFill>
            <a:srgbClr val="111316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7824" y="5641848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A7FF"/>
                </a:solidFill>
                <a:latin typeface="Arial"/>
              </a:rPr>
              <a:t>TRUTHFUL SCORE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1720" y="5550408"/>
            <a:ext cx="8823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F4F4"/>
                </a:solidFill>
                <a:latin typeface="Arial"/>
              </a:rPr>
              <a:t>Unavailable network evidence stays unchecked, not failed; provider concurrency remains visible but outside the weighted score.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1A7AE"/>
                </a:solidFill>
                <a:latin typeface="Arial"/>
              </a:rPr>
              <a:t>CLIENT NETWORK · AZURE DEVOPS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4F4"/>
                </a:solidFill>
                <a:latin typeface="Arial"/>
              </a:rPr>
              <a:t>The client environment shaped the checks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160020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7AE"/>
                </a:solidFill>
                <a:latin typeface="Arial"/>
              </a:rPr>
              <a:t>Network and permissions determined which facts were available and when a check could be trusted.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73952"/>
            <a:ext cx="11420856" cy="10972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3192" y="657453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4F4F4"/>
                </a:solidFill>
                <a:latin typeface="Arial"/>
              </a:rPr>
              <a:t>THE REAL WORLD / PRIVATE ENVIRONMENT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1A7AE"/>
                </a:solidFill>
                <a:latin typeface="Arial"/>
              </a:rPr>
              <a:t>13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8368" y="2139696"/>
            <a:ext cx="5285232" cy="1536192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" y="2139696"/>
            <a:ext cx="50292" cy="1536192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2295144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2C7EF"/>
                </a:solidFill>
                <a:latin typeface="Arial"/>
              </a:rPr>
              <a:t>ONE WORKFLOW ON MAC AND WINDOWS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2569463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4F4"/>
                </a:solidFill>
                <a:latin typeface="Arial"/>
              </a:rPr>
              <a:t>Bash + PowerShell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3054096"/>
            <a:ext cx="4882896" cy="53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1A7AE"/>
                </a:solidFill>
                <a:latin typeface="Arial"/>
              </a:rPr>
              <a:t>Both entry points expose the same commands and flags; users do not need to know which Python runner implements a step.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99632" y="2139696"/>
            <a:ext cx="5285232" cy="1536192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99632" y="2139696"/>
            <a:ext cx="50292" cy="1536192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2295144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7675E"/>
                </a:solidFill>
                <a:latin typeface="Arial"/>
              </a:rPr>
              <a:t>HOST FACTS NEED AUTHENTICATED ACCESS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2569463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4F4"/>
                </a:solidFill>
                <a:latin typeface="Arial"/>
              </a:rPr>
              <a:t>Azure DevOps scrape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054096"/>
            <a:ext cx="4882896" cy="53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1A7AE"/>
                </a:solidFill>
                <a:latin typeface="Arial"/>
              </a:rPr>
              <a:t>Branch policies, build validation, status checks, reviewers, and repository security come from the host, not the clone.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3931920"/>
            <a:ext cx="5285232" cy="1536192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58368" y="3931920"/>
            <a:ext cx="50292" cy="1536192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" y="4087368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C8F92"/>
                </a:solidFill>
                <a:latin typeface="Arial"/>
              </a:rPr>
              <a:t>INHERITED FACTS ARE WORKSPACE-SCOPED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9536" y="4361688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Project 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" y="4846320"/>
            <a:ext cx="4882896" cy="53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1A7AE"/>
                </a:solidFill>
                <a:latin typeface="Arial"/>
              </a:rPr>
              <a:t>Read default-branch policy and build definitions once instead of copying project-wide settings into every module record.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99632" y="3931920"/>
            <a:ext cx="5285232" cy="1536192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199632" y="3931920"/>
            <a:ext cx="50292" cy="1536192"/>
          </a:xfrm>
          <a:prstGeom prst="rect">
            <a:avLst/>
          </a:prstGeom>
          <a:solidFill>
            <a:srgbClr val="B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0" y="4087368"/>
            <a:ext cx="48828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A7FF"/>
                </a:solidFill>
                <a:latin typeface="Arial"/>
              </a:rPr>
              <a:t>UPSTREAM HEALTH NEEDS FRESH 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361688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4F4"/>
                </a:solidFill>
                <a:latin typeface="Arial"/>
              </a:rPr>
              <a:t>Provider status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846320"/>
            <a:ext cx="4882896" cy="53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1A7AE"/>
                </a:solidFill>
                <a:latin typeface="Arial"/>
              </a:rPr>
              <a:t>Fetch releases and open issues from declared providers. Missing probes or stale collection leave dependent checks unchecked.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1A7AE"/>
                </a:solidFill>
                <a:latin typeface="Arial"/>
              </a:rPr>
              <a:t>FROM SIGNALS TO 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4F4"/>
                </a:solidFill>
                <a:latin typeface="Arial"/>
              </a:rPr>
              <a:t>Turn fleet facts into prioritized 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160020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7AE"/>
                </a:solidFill>
                <a:latin typeface="Arial"/>
              </a:rPr>
              <a:t>The catalog, dependency graph, and provider evidence could organize cross-fleet upgrade work.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73952"/>
            <a:ext cx="11420856" cy="10972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3192" y="657453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4F4F4"/>
                </a:solidFill>
                <a:latin typeface="Arial"/>
              </a:rPr>
              <a:t>THE REAL WORLD / FROM SIGNALS TO 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1A7AE"/>
                </a:solidFill>
                <a:latin typeface="Arial"/>
              </a:rPr>
              <a:t>14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8368" y="2231136"/>
            <a:ext cx="3456432" cy="2011680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" y="2231136"/>
            <a:ext cx="50292" cy="2011680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2386584"/>
            <a:ext cx="30540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2C7EF"/>
                </a:solidFill>
                <a:latin typeface="Arial"/>
              </a:rPr>
              <a:t>01 ·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2660904"/>
            <a:ext cx="30540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4F4"/>
                </a:solidFill>
                <a:latin typeface="Arial"/>
              </a:rPr>
              <a:t>Build an upgrade graph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3145536"/>
            <a:ext cx="30540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7AE"/>
                </a:solidFill>
                <a:latin typeface="Arial"/>
              </a:rPr>
              <a:t>Relate modules to resources and provider versions; identify dependencies that affect upgrade order.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70832" y="2231136"/>
            <a:ext cx="3456432" cy="2011680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70832" y="2231136"/>
            <a:ext cx="50292" cy="2011680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0" y="2386584"/>
            <a:ext cx="30540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C8F92"/>
                </a:solidFill>
                <a:latin typeface="Arial"/>
              </a:rPr>
              <a:t>02 · PRIORITIZE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2660904"/>
            <a:ext cx="30540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4F4"/>
                </a:solidFill>
                <a:latin typeface="Arial"/>
              </a:rPr>
              <a:t>Create a per-module plan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3145536"/>
            <a:ext cx="30540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7AE"/>
                </a:solidFill>
                <a:latin typeface="Arial"/>
              </a:rPr>
              <a:t>Produce upgrade reports and spread work across five priority levels instead of treating the fleet as one ticket.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83296" y="2231136"/>
            <a:ext cx="3456432" cy="2011680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83296" y="2231136"/>
            <a:ext cx="50292" cy="2011680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84464" y="2386584"/>
            <a:ext cx="3054096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7675E"/>
                </a:solidFill>
                <a:latin typeface="Arial"/>
              </a:rPr>
              <a:t>03 · TRACK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2660904"/>
            <a:ext cx="30540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4F4"/>
                </a:solidFill>
                <a:latin typeface="Arial"/>
              </a:rPr>
              <a:t>Link work in Azure DevOps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4464" y="3145536"/>
            <a:ext cx="30540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7AE"/>
                </a:solidFill>
                <a:latin typeface="Arial"/>
              </a:rPr>
              <a:t>Inventory the parent ticket; create or update one child per module; resolve link types from the tracker.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4553712"/>
            <a:ext cx="10881360" cy="841248"/>
          </a:xfrm>
          <a:prstGeom prst="roundRect">
            <a:avLst/>
          </a:prstGeom>
          <a:solidFill>
            <a:srgbClr val="111316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7824" y="4764024"/>
            <a:ext cx="1143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A7FF"/>
                </a:solidFill>
                <a:latin typeface="Arial"/>
              </a:rPr>
              <a:t>SAFETY RAIL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57984" y="4681728"/>
            <a:ext cx="90525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4F4F4"/>
                </a:solidFill>
                <a:latin typeface="Arial"/>
              </a:rPr>
              <a:t>Dry run by default · create, update, and link phases covered · link types resolved from Azure DevOps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8" y="56418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Timeline records when features landed in git; it does not claim every live pipeline run succeeded.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rth_phas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4F4F4"/>
                </a:solidFill>
                <a:latin typeface="Arial"/>
              </a:rPr>
              <a:t>THE SIDEQUEST  /  PHASE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1298448"/>
            <a:ext cx="70408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hu-HU" sz="2700" b="1" i="0" dirty="0">
                <a:solidFill>
                  <a:srgbClr val="F4F4F4"/>
                </a:solidFill>
                <a:latin typeface="Arial"/>
              </a:rPr>
              <a:t>The </a:t>
            </a:r>
            <a:r>
              <a:rPr lang="hu-HU" sz="2700" b="1" i="0" dirty="0" err="1">
                <a:solidFill>
                  <a:srgbClr val="F4F4F4"/>
                </a:solidFill>
                <a:latin typeface="Arial"/>
              </a:rPr>
              <a:t>Sidequest</a:t>
            </a:r>
            <a:endParaRPr sz="2700" b="1" i="0" dirty="0">
              <a:solidFill>
                <a:srgbClr val="F4F4F4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0664" y="2148840"/>
            <a:ext cx="69951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 err="1">
                <a:solidFill>
                  <a:srgbClr val="A1A7AE"/>
                </a:solidFill>
                <a:latin typeface="Arial"/>
              </a:rPr>
              <a:t>iaclens</a:t>
            </a:r>
            <a:endParaRPr sz="1300" b="1" i="0" dirty="0">
              <a:solidFill>
                <a:srgbClr val="A1A7AE"/>
              </a:solidFill>
              <a:latin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0664" y="2660904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A1A7AE"/>
                </a:solidFill>
                <a:latin typeface="Arial"/>
              </a:rPr>
              <a:t>27–30 September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" y="3191256"/>
            <a:ext cx="841248" cy="50292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8" y="3520440"/>
            <a:ext cx="653796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4F4"/>
                </a:solidFill>
                <a:latin typeface="Arial"/>
              </a:rPr>
              <a:t>A short Go-based experiment separated repository structure from module intent, using Jev only when code could not decide.</a:t>
            </a:r>
          </a:p>
        </p:txBody>
      </p:sp>
      <p:sp>
        <p:nvSpPr>
          <p:cNvPr id="48" name="Oval 47"/>
          <p:cNvSpPr/>
          <p:nvPr/>
        </p:nvSpPr>
        <p:spPr>
          <a:xfrm>
            <a:off x="8302752" y="1508760"/>
            <a:ext cx="3063240" cy="306324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38160" y="106984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C8F92"/>
                </a:solidFill>
                <a:latin typeface="Arial"/>
              </a:rPr>
              <a:t>SCAN TO OPEN REPOSITORY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1944482"/>
            <a:ext cx="2091212" cy="209121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138160" y="4718304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4F4F4"/>
                </a:solidFill>
                <a:latin typeface="Arial"/>
              </a:rPr>
              <a:t>PUBLIC REPOSITORY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45552" y="5001768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A1A7AE"/>
                </a:solidFill>
                <a:latin typeface="Arial"/>
              </a:rPr>
              <a:t>Ledermayer/iaclens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6510528"/>
            <a:ext cx="11420856" cy="7315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4F4F4"/>
                </a:solidFill>
                <a:latin typeface="Arial"/>
              </a:rPr>
              <a:t>THE SIDEQUEST / IACLENS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15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DECISION POINT · 15 SEP 2026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SIDEQUEST / WHY A CLASSIFIER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16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A narrow question for Jev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System One offered a choice with probabilities, not an open-ended paragraph.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1828800"/>
            <a:ext cx="4937760" cy="33375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B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24128" y="2084831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2C7EF"/>
                </a:solidFill>
                <a:latin typeface="Arial"/>
              </a:rPr>
              <a:t>UNRESOLVED DIRECTORY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" y="2615184"/>
            <a:ext cx="237744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4F4F4"/>
                </a:solidFill>
                <a:latin typeface="Arial"/>
              </a:rPr>
              <a:t>module
deployment
unknown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611880" y="2377440"/>
            <a:ext cx="0" cy="2377440"/>
          </a:xfrm>
          <a:prstGeom prst="line">
            <a:avLst/>
          </a:prstGeom>
          <a:ln w="12700">
            <a:solidFill>
              <a:srgbClr val="505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858768" y="2743200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1A7AE"/>
                </a:solidFill>
                <a:latin typeface="Arial"/>
              </a:rPr>
              <a:t>Only when Go rules could not decide.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1938528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2C8F92"/>
                </a:solidFill>
                <a:latin typeface="Arial"/>
              </a:rPr>
              <a:t>0.8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2807208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4F4"/>
                </a:solidFill>
                <a:latin typeface="Arial"/>
              </a:rPr>
              <a:t>default probability and confidence thresholds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7648" y="3730752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1A7AE"/>
                </a:solidFill>
                <a:latin typeface="Arial"/>
              </a:rPr>
              <a:t>Below threshold → stay unknown; dependent checks stay unchecked.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5513832"/>
            <a:ext cx="10515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4F4"/>
                </a:solidFill>
                <a:latin typeface="Arial"/>
              </a:rPr>
              <a:t>The experiment made uncertainty explicit. It also introduced a model call into the analysis path.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ITERATION 3 · 27–30 SEP 2026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SIDEQUEST / REPOSITORY SHAPE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17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Go separates repository structure from module intent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iaclens · Go HCL parser · v0.1.0 released 30 September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1874519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85800" y="1874519"/>
            <a:ext cx="50292" cy="1965960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2" y="2048255"/>
            <a:ext cx="304495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2C7EF"/>
                </a:solidFill>
                <a:latin typeface="Arial"/>
              </a:rPr>
              <a:t>WHAT GO DECIDED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2322576"/>
            <a:ext cx="3044951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Structural role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2852928"/>
            <a:ext cx="3035808" cy="859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1A7AE"/>
                </a:solidFill>
                <a:latin typeface="Arial"/>
              </a:rPr>
              <a:t>Each .tf or .tf.json directory is a unit. Examples attach to their nearest owning module and do not inflate component counts.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70832" y="1874519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370832" y="1874519"/>
            <a:ext cx="50292" cy="1965960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81144" y="2048255"/>
            <a:ext cx="304495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7675E"/>
                </a:solidFill>
                <a:latin typeface="Arial"/>
              </a:rPr>
              <a:t>WHAT NEEDED A RULE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81144" y="2322576"/>
            <a:ext cx="3044951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Intent kind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81144" y="2852928"/>
            <a:ext cx="3035808" cy="859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1A7AE"/>
                </a:solidFill>
                <a:latin typeface="Arial"/>
              </a:rPr>
              <a:t>Backend or cloud blocks signal deployment. Conflicting signals stay unknown; configured paths and operator overrides decide first.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55864" y="1874519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055864" y="1874519"/>
            <a:ext cx="50292" cy="1965960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66176" y="2048255"/>
            <a:ext cx="304495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C8F92"/>
                </a:solidFill>
                <a:latin typeface="Arial"/>
              </a:rPr>
              <a:t>WHAT STAYED UNCERTAIN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6" y="2322576"/>
            <a:ext cx="3044951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Jev as fallback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66176" y="2852928"/>
            <a:ext cx="3035808" cy="859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1A7AE"/>
                </a:solidFill>
                <a:latin typeface="Arial"/>
              </a:rPr>
              <a:t>Jev is used only when structure, rules, and overrides cannot decide module versus deployment.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4944" y="4251960"/>
            <a:ext cx="10817352" cy="1051560"/>
          </a:xfrm>
          <a:prstGeom prst="roundRect">
            <a:avLst>
              <a:gd name="adj" fmla="val 8000"/>
            </a:avLst>
          </a:prstGeom>
          <a:solidFill>
            <a:srgbClr val="1A1D21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60120" y="448056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366FF"/>
                </a:solidFill>
                <a:latin typeface="Arial"/>
              </a:rPr>
              <a:t>BOUNDARY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40280" y="4407408"/>
            <a:ext cx="86868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4F4"/>
                </a:solidFill>
                <a:latin typeface="Arial"/>
              </a:rPr>
              <a:t>The summary is derived: mixed means multiple resolved kinds; any unresolved directory keeps classification incomplete.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1A7AE"/>
                </a:solidFill>
                <a:latin typeface="Arial"/>
              </a:rPr>
              <a:t>CLASSIFIER CONTRACT · IACLENS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4F4"/>
                </a:solidFill>
                <a:latin typeface="Arial"/>
              </a:rPr>
              <a:t>A bounded classifier, with an explicit off switch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160020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7AE"/>
                </a:solidFill>
                <a:latin typeface="Arial"/>
              </a:rPr>
              <a:t>Only unresolved directories become model questions; the program decides whether an answer can count.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73952"/>
            <a:ext cx="11420856" cy="10972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3192" y="657453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4F4F4"/>
                </a:solidFill>
                <a:latin typeface="Arial"/>
              </a:rPr>
              <a:t>THE SIDEQUEST / CONFIDENCE 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1A7AE"/>
                </a:solidFill>
                <a:latin typeface="Arial"/>
              </a:rPr>
              <a:t>18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8368" y="2157984"/>
            <a:ext cx="3456432" cy="2048256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" y="2157984"/>
            <a:ext cx="50292" cy="2048256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2340864"/>
            <a:ext cx="3054096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2C7EF"/>
                </a:solidFill>
                <a:latin typeface="Arial"/>
              </a:rPr>
              <a:t>CLOSED CHOICES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2642615"/>
            <a:ext cx="30540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4F4"/>
                </a:solidFill>
                <a:latin typeface="Arial"/>
              </a:rPr>
              <a:t>A strict response contract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3145536"/>
            <a:ext cx="3054096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7AE"/>
                </a:solidFill>
                <a:latin typeface="Arial"/>
              </a:rPr>
              <a:t>Ask one unresolved directory at a time. The answer must be module, deployment, or unknown; probabilities cover every allowed choice and sum to one.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70832" y="2157984"/>
            <a:ext cx="3456432" cy="2048256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70832" y="2157984"/>
            <a:ext cx="50292" cy="2048256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0" y="2340864"/>
            <a:ext cx="3054096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8F92"/>
                </a:solidFill>
                <a:latin typeface="Arial"/>
              </a:rPr>
              <a:t>PROGRAM-OWNED THRESHOLD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2642615"/>
            <a:ext cx="30540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4F4"/>
                </a:solidFill>
                <a:latin typeface="Arial"/>
              </a:rPr>
              <a:t>The model cannot force a decision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3145536"/>
            <a:ext cx="3054096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7AE"/>
                </a:solidFill>
                <a:latin typeface="Arial"/>
              </a:rPr>
              <a:t>Both confidence and selected-choice probability must meet 0.8. Below either threshold, the result stays unknown and dependent checks stay unchecked.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83296" y="2157984"/>
            <a:ext cx="3456432" cy="2048256"/>
          </a:xfrm>
          <a:prstGeom prst="roundRect">
            <a:avLst/>
          </a:prstGeom>
          <a:solidFill>
            <a:srgbClr val="1A1D21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83296" y="2157984"/>
            <a:ext cx="50292" cy="2048256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84464" y="2340864"/>
            <a:ext cx="3054096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7675E"/>
                </a:solidFill>
                <a:latin typeface="Arial"/>
              </a:rPr>
              <a:t>OPERATOR CONTROL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2642615"/>
            <a:ext cx="30540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4F4"/>
                </a:solidFill>
                <a:latin typeface="Arial"/>
              </a:rPr>
              <a:t>Prepare without calling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4464" y="3145536"/>
            <a:ext cx="3054096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7AE"/>
                </a:solidFill>
                <a:latin typeface="Arial"/>
              </a:rPr>
              <a:t>`--mode prepare` writes the request only. `--mode jev` makes the selected provider call; the report records the ruleset digest and response.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4553712"/>
            <a:ext cx="10881360" cy="896112"/>
          </a:xfrm>
          <a:prstGeom prst="roundRect">
            <a:avLst/>
          </a:prstGeom>
          <a:solidFill>
            <a:srgbClr val="111316"/>
          </a:solidFill>
          <a:ln w="10160">
            <a:solidFill>
              <a:srgbClr val="37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7824" y="4764024"/>
            <a:ext cx="7315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0A7FF"/>
                </a:solidFill>
                <a:latin typeface="Arial"/>
              </a:rPr>
              <a:t>SCOPE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55648" y="4672584"/>
            <a:ext cx="93268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4F4F4"/>
                </a:solidFill>
                <a:latin typeface="Arial"/>
              </a:rPr>
              <a:t>Terraform source is data: no execution, module downloads, tfvars, plans, or state. Pre-1.0; not a certification.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8" y="56418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1A7AE"/>
                </a:solidFill>
                <a:latin typeface="Arial"/>
              </a:rPr>
              <a:t>A report with no findings is not, by itself, a plan or a security result.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rth_phas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12648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4F4F4"/>
                </a:solidFill>
                <a:latin typeface="Arial"/>
              </a:rPr>
              <a:t>THE FACTORY  /  PHASE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1298448"/>
            <a:ext cx="70408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hu-HU" sz="2700" b="1" i="0" dirty="0">
                <a:solidFill>
                  <a:srgbClr val="F4F4F4"/>
                </a:solidFill>
                <a:latin typeface="Arial"/>
              </a:rPr>
              <a:t>The </a:t>
            </a:r>
            <a:r>
              <a:rPr lang="hu-HU" sz="2700" b="1" i="0" dirty="0" err="1">
                <a:solidFill>
                  <a:srgbClr val="F4F4F4"/>
                </a:solidFill>
                <a:latin typeface="Arial"/>
              </a:rPr>
              <a:t>Factory</a:t>
            </a:r>
            <a:endParaRPr sz="2700" b="1" i="0" dirty="0">
              <a:solidFill>
                <a:srgbClr val="F4F4F4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0664" y="2148840"/>
            <a:ext cx="69951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 err="1">
                <a:solidFill>
                  <a:srgbClr val="A1A7AE"/>
                </a:solidFill>
                <a:latin typeface="Arial"/>
              </a:rPr>
              <a:t>avm</a:t>
            </a:r>
            <a:r>
              <a:rPr sz="1300" b="1" i="0" dirty="0">
                <a:solidFill>
                  <a:srgbClr val="A1A7AE"/>
                </a:solidFill>
                <a:latin typeface="Arial"/>
              </a:rPr>
              <a:t>-intelligence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" y="2660904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A1A7AE"/>
                </a:solidFill>
                <a:latin typeface="Arial"/>
              </a:rPr>
              <a:t>28 September – 12 October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" y="3191256"/>
            <a:ext cx="841248" cy="502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8" y="3520440"/>
            <a:ext cx="653796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4F4"/>
                </a:solidFill>
                <a:latin typeface="Arial"/>
              </a:rPr>
              <a:t>The work moved from local commands to a durable factory with distinct discovery, evidence, acceptance, and publication stages.</a:t>
            </a:r>
          </a:p>
        </p:txBody>
      </p:sp>
      <p:sp>
        <p:nvSpPr>
          <p:cNvPr id="48" name="Oval 47"/>
          <p:cNvSpPr/>
          <p:nvPr/>
        </p:nvSpPr>
        <p:spPr>
          <a:xfrm>
            <a:off x="8302752" y="1508760"/>
            <a:ext cx="3063240" cy="306324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38160" y="106984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366FF"/>
                </a:solidFill>
                <a:latin typeface="Arial"/>
              </a:rPr>
              <a:t>SCAN TO OPEN REPOSITORY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1998406"/>
            <a:ext cx="2130847" cy="213084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845552" y="5001768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A1A7AE"/>
                </a:solidFill>
                <a:latin typeface="Arial"/>
              </a:rPr>
              <a:t>softwareone-public/avm-intelligence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6510528"/>
            <a:ext cx="11420856" cy="7315"/>
          </a:xfrm>
          <a:prstGeom prst="rect">
            <a:avLst/>
          </a:prstGeom>
          <a:solidFill>
            <a:srgbClr val="4D5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4F4F4"/>
                </a:solidFill>
                <a:latin typeface="Arial"/>
              </a:rPr>
              <a:t>THE FACTORY / AVM-INTELLIGENCE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19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ITERATION 4 · SEP–OCT 2026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FACTORY / V1 TO V2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20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The factory begins — and its first design is replaced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AVM Intelligence started in softwareone-public on 28 September.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" y="1828800"/>
            <a:ext cx="5166360" cy="33375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A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9264" y="212140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01 OCT  ·  V1 FLEET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" y="2560320"/>
            <a:ext cx="438912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4F4F4"/>
                </a:solidFill>
                <a:latin typeface="Arial"/>
              </a:rPr>
              <a:t>A laptop pipeline
inside Actions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3685032"/>
            <a:ext cx="4251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1A7AE"/>
                </a:solidFill>
                <a:latin typeface="Arial"/>
              </a:defRPr>
            </a:pPr>
            <a:r>
              <a:t>•  Discovery and source pinning</a:t>
            </a:r>
          </a:p>
          <a:p>
            <a:pPr>
              <a:spcAft>
                <a:spcPts val="800"/>
              </a:spcAft>
              <a:defRPr sz="1300">
                <a:solidFill>
                  <a:srgbClr val="A1A7AE"/>
                </a:solidFill>
                <a:latin typeface="Arial"/>
              </a:defRPr>
            </a:pPr>
            <a:r>
              <a:t>•  Workers and accepted cohort data</a:t>
            </a:r>
          </a:p>
          <a:p>
            <a:pPr>
              <a:spcAft>
                <a:spcPts val="800"/>
              </a:spcAft>
              <a:defRPr sz="1300">
                <a:solidFill>
                  <a:srgbClr val="A1A7AE"/>
                </a:solidFill>
                <a:latin typeface="Arial"/>
              </a:defRPr>
            </a:pPr>
            <a:r>
              <a:t>•  Pages portal and Issues / Project board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36208" y="1828800"/>
            <a:ext cx="5266944" cy="333756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A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10528" y="212140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2C7EF"/>
                </a:solidFill>
                <a:latin typeface="Arial"/>
              </a:rPr>
              <a:t>01–02 OCT  ·  V2 APPROVED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8" y="2560320"/>
            <a:ext cx="44805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4F4F4"/>
                </a:solidFill>
                <a:latin typeface="Arial"/>
              </a:rPr>
              <a:t>One module.
Owned facts.
Review before acceptance.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4096512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1A7AE"/>
                </a:solidFill>
                <a:latin typeface="Arial"/>
              </a:rPr>
              <a:t>The factory would own parsing and compiled checks. IaCLens and the model path left the runtime.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ARCHITECTURE DESTINATION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FACTORY / LIFECYCLE AUTHORITY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21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A staged factory with explicit authority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Each stage has one job; durable state coordinates work, while human-facing surfaces report it.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" y="196596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8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0664" y="2148840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2C7EF"/>
                </a:solidFill>
                <a:latin typeface="Arial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" y="2523744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DISCOVER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" y="2907792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1A7AE"/>
                </a:solidFill>
                <a:latin typeface="Arial"/>
              </a:rPr>
              <a:t>pin the source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203704" y="2752344"/>
            <a:ext cx="246887" cy="0"/>
          </a:xfrm>
          <a:prstGeom prst="line">
            <a:avLst/>
          </a:prstGeom>
          <a:ln w="16510">
            <a:solidFill>
              <a:srgbClr val="62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478024" y="196596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8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42616" y="2148840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42616" y="2523744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ACQUIRE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42616" y="2907792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1A7AE"/>
                </a:solidFill>
                <a:latin typeface="Arial"/>
              </a:rPr>
              <a:t>extract native facts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05656" y="2752344"/>
            <a:ext cx="246888" cy="0"/>
          </a:xfrm>
          <a:prstGeom prst="line">
            <a:avLst/>
          </a:prstGeom>
          <a:ln w="16510">
            <a:solidFill>
              <a:srgbClr val="62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379976" y="196596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8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44568" y="2148840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8F92"/>
                </a:solidFill>
                <a:latin typeface="Arial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4568" y="2523744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ASSESS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44568" y="2907792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1A7AE"/>
                </a:solidFill>
                <a:latin typeface="Arial"/>
              </a:rPr>
              <a:t>compiled checks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007608" y="2752344"/>
            <a:ext cx="246888" cy="0"/>
          </a:xfrm>
          <a:prstGeom prst="line">
            <a:avLst/>
          </a:prstGeom>
          <a:ln w="16510">
            <a:solidFill>
              <a:srgbClr val="62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281928" y="196596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8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46520" y="2148840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366FF"/>
                </a:solidFill>
                <a:latin typeface="Arial"/>
              </a:rPr>
              <a:t>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2523744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ACCEPT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20" y="2907792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1A7AE"/>
                </a:solidFill>
                <a:latin typeface="Arial"/>
              </a:rPr>
              <a:t>reviewed evidence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909560" y="2752344"/>
            <a:ext cx="246888" cy="0"/>
          </a:xfrm>
          <a:prstGeom prst="line">
            <a:avLst/>
          </a:prstGeom>
          <a:ln w="16510">
            <a:solidFill>
              <a:srgbClr val="62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8183880" y="196596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8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48472" y="2148840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A7FF"/>
                </a:solidFill>
                <a:latin typeface="Arial"/>
              </a:rPr>
              <a:t>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48472" y="2523744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SELECT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48472" y="2907792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1A7AE"/>
                </a:solidFill>
                <a:latin typeface="Arial"/>
              </a:rPr>
              <a:t>reviewed release set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811512" y="2752344"/>
            <a:ext cx="246888" cy="0"/>
          </a:xfrm>
          <a:prstGeom prst="line">
            <a:avLst/>
          </a:prstGeom>
          <a:ln w="16510">
            <a:solidFill>
              <a:srgbClr val="62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10085832" y="196596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8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250424" y="2148840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2C7EF"/>
                </a:solidFill>
                <a:latin typeface="Arial"/>
              </a:rPr>
              <a:t>06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50424" y="2523744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PUBLISH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0424" y="2907792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1A7AE"/>
                </a:solidFill>
                <a:latin typeface="Arial"/>
              </a:rPr>
              <a:t>receipt-backed view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41148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STATE AUTHORITY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85800" y="4425696"/>
            <a:ext cx="5623560" cy="841248"/>
          </a:xfrm>
          <a:prstGeom prst="roundRect">
            <a:avLst>
              <a:gd name="adj" fmla="val 8000"/>
            </a:avLst>
          </a:prstGeom>
          <a:solidFill>
            <a:srgbClr val="202328"/>
          </a:solidFill>
          <a:ln w="10160">
            <a:solidFill>
              <a:srgbClr val="4A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0120" y="4663440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4F4F4"/>
                </a:solidFill>
                <a:latin typeface="Arial"/>
              </a:rPr>
              <a:t>JSON-only factory-state · expected-head commits · fencing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48272" y="411480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2C7EF"/>
                </a:solidFill>
                <a:latin typeface="Arial"/>
              </a:rPr>
              <a:t>Projections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748272" y="4425696"/>
            <a:ext cx="1993392" cy="841248"/>
          </a:xfrm>
          <a:prstGeom prst="roundRect">
            <a:avLst>
              <a:gd name="adj" fmla="val 8000"/>
            </a:avLst>
          </a:prstGeom>
          <a:solidFill>
            <a:srgbClr val="202328"/>
          </a:solidFill>
          <a:ln w="10160">
            <a:solidFill>
              <a:srgbClr val="4A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76288" y="469087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F4F4"/>
                </a:solidFill>
                <a:latin typeface="Arial"/>
              </a:rPr>
              <a:t>Issues / Project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988552" y="4425696"/>
            <a:ext cx="2313432" cy="841248"/>
          </a:xfrm>
          <a:prstGeom prst="roundRect">
            <a:avLst>
              <a:gd name="adj" fmla="val 8000"/>
            </a:avLst>
          </a:prstGeom>
          <a:solidFill>
            <a:srgbClr val="202328"/>
          </a:solidFill>
          <a:ln w="10160">
            <a:solidFill>
              <a:srgbClr val="4A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189720" y="4690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F4F4"/>
                </a:solidFill>
                <a:latin typeface="Arial"/>
              </a:rPr>
              <a:t>Pages portal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29984" y="546811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1A7AE"/>
                </a:solidFill>
                <a:latin typeface="Arial"/>
              </a:rPr>
              <a:t>Neither board nor site schedules work or grants acceptance.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6576"/>
          </a:xfrm>
          <a:prstGeom prst="rect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FB6BF"/>
                </a:solidFill>
                <a:latin typeface="Arial"/>
              </a:rPr>
              <a:t>ARCHITECTURE · PROJECTION AUTHORITY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62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FB6BF"/>
                </a:solidFill>
                <a:latin typeface="Arial"/>
              </a:rPr>
              <a:t>THE FACTORY / AUTHORITY &amp; DATA 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FB6BF"/>
                </a:solidFill>
                <a:latin typeface="Arial"/>
              </a:rPr>
              <a:t>22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661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41832"/>
            <a:ext cx="111556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4F4F4"/>
                </a:solidFill>
                <a:latin typeface="Arial"/>
              </a:rPr>
              <a:t>The board reports state; it does not run the factory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517904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FB6BF"/>
                </a:solidFill>
                <a:latin typeface="Arial"/>
              </a:rPr>
              <a:t>Following slide 21’s staged lifecycle: factory workflows write durable state, then one projector updates the human-facing board.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0352" y="2194560"/>
            <a:ext cx="2359152" cy="2487168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30352" y="2331720"/>
            <a:ext cx="41148" cy="2212848"/>
          </a:xfrm>
          <a:prstGeom prst="rect">
            <a:avLst/>
          </a:prstGeom>
          <a:solidFill>
            <a:srgbClr val="397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944" y="2313432"/>
            <a:ext cx="2048256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97EB7"/>
                </a:solidFill>
                <a:latin typeface="Arial"/>
              </a:rPr>
              <a:t>FACTORY WORKFLOWS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" y="263347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4F4"/>
                </a:solidFill>
                <a:latin typeface="Arial"/>
              </a:rPr>
              <a:t>Producers and operators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" y="3090672"/>
            <a:ext cx="2048256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AFB6BF"/>
                </a:solidFill>
                <a:latin typeface="Arial"/>
              </a:rPr>
              <a:t>factory-discovery / manual-discovery
factory-dispatch / manual-dispatch
manual-worker
factory-worker (reusable)
manual-accept-evidence
manual-site-publish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" y="4361688"/>
            <a:ext cx="2048256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FB6BF"/>
                </a:solidFill>
                <a:latin typeface="Arial"/>
              </a:rPr>
              <a:t>Read, claim, seal, accept, publish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56432" y="2194560"/>
            <a:ext cx="2926080" cy="2487168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456432" y="2331720"/>
            <a:ext cx="41148" cy="2212848"/>
          </a:xfrm>
          <a:prstGeom prst="rect">
            <a:avLst/>
          </a:prstGeom>
          <a:solidFill>
            <a:srgbClr val="9A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21024" y="2313432"/>
            <a:ext cx="261518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76D2"/>
                </a:solidFill>
                <a:latin typeface="Arial"/>
              </a:rPr>
              <a:t>DURABLE AUTHORITY · BRANCH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21024" y="2633472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4F4"/>
                </a:solidFill>
                <a:latin typeface="Arial"/>
              </a:rPr>
              <a:t>factory-state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21024" y="3090672"/>
            <a:ext cx="2615184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AFB6BF"/>
                </a:solidFill>
                <a:latin typeface="Arial"/>
              </a:rPr>
              <a:t>requests · attempts · fences
lifecycle and projection intents
acceptance + Pages receipts
per-module delivery checkpoints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21024" y="4361688"/>
            <a:ext cx="261518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FB6BF"/>
                </a:solidFill>
                <a:latin typeface="Arial"/>
              </a:rPr>
              <a:t>JSON under state/ · expected-head Git writes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67728" y="2194560"/>
            <a:ext cx="2066543" cy="2487168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967728" y="2331720"/>
            <a:ext cx="41148" cy="2212848"/>
          </a:xfrm>
          <a:prstGeom prst="rect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132320" y="2313432"/>
            <a:ext cx="1755647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CC7E8"/>
                </a:solidFill>
                <a:latin typeface="Arial"/>
              </a:rPr>
              <a:t>PROJECTION WORKFLOW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2633472"/>
            <a:ext cx="17556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F4F4"/>
                </a:solidFill>
                <a:latin typeface="Arial"/>
              </a:rPr>
              <a:t>factory-projection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3090672"/>
            <a:ext cx="1755647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AFB6BF"/>
                </a:solidFill>
                <a:latin typeface="Arial"/>
              </a:rPr>
              <a:t>Reads due state intents
Applies exact Issue / Project updates
Acknowledges delivered effects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4361688"/>
            <a:ext cx="1755647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FB6BF"/>
                </a:solidFill>
                <a:latin typeface="Arial"/>
              </a:rPr>
              <a:t>Sole board writer · currently hard-disabled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37776" y="2194560"/>
            <a:ext cx="2029968" cy="2487168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637776" y="2331720"/>
            <a:ext cx="41148" cy="2212848"/>
          </a:xfrm>
          <a:prstGeom prst="rect">
            <a:avLst/>
          </a:prstGeom>
          <a:solidFill>
            <a:srgbClr val="73C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02367" y="2313432"/>
            <a:ext cx="171907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73C68C"/>
                </a:solidFill>
                <a:latin typeface="Arial"/>
              </a:rPr>
              <a:t>HUMAN-FACING BOARD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02367" y="2633472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4F4"/>
                </a:solidFill>
                <a:latin typeface="Arial"/>
              </a:rPr>
              <a:t>GitHub Project + module Issues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02367" y="3090672"/>
            <a:ext cx="1719072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FB6BF"/>
                </a:solidFill>
                <a:latin typeface="Arial"/>
              </a:rPr>
              <a:t>status · summary · labels
human notes are preserved
read model for people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02367" y="4361688"/>
            <a:ext cx="171907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FB6BF"/>
                </a:solidFill>
                <a:latin typeface="Arial"/>
              </a:rPr>
              <a:t>Never a queue or approval input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907792" y="3429000"/>
            <a:ext cx="475488" cy="0"/>
          </a:xfrm>
          <a:prstGeom prst="line">
            <a:avLst/>
          </a:prstGeom>
          <a:ln w="22860">
            <a:solidFill>
              <a:srgbClr val="397E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400800" y="3429000"/>
            <a:ext cx="493776" cy="0"/>
          </a:xfrm>
          <a:prstGeom prst="line">
            <a:avLst/>
          </a:prstGeom>
          <a:ln w="22860">
            <a:solidFill>
              <a:srgbClr val="9A76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052560" y="3429000"/>
            <a:ext cx="512064" cy="0"/>
          </a:xfrm>
          <a:prstGeom prst="line">
            <a:avLst/>
          </a:prstGeom>
          <a:ln w="22860">
            <a:solidFill>
              <a:srgbClr val="4CC7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640080" y="5047488"/>
            <a:ext cx="10936224" cy="621792"/>
          </a:xfrm>
          <a:prstGeom prst="roundRect">
            <a:avLst/>
          </a:prstGeom>
          <a:solidFill>
            <a:srgbClr val="0B0D10"/>
          </a:solidFill>
          <a:ln w="10160">
            <a:solidFill>
              <a:srgbClr val="2F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41248" y="516636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4F4F4"/>
                </a:solidFill>
                <a:latin typeface="Arial"/>
              </a:rPr>
              <a:t>AUTHORITY BOUNDARY   Board status never dispatches work or grants acceptance. The projector only reconciles state-backed intents.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6656" y="5797296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F1B94A"/>
                </a:solidFill>
                <a:latin typeface="Arial"/>
              </a:rPr>
              <a:t>Implementation note: the current review branch keeps the factory-projection job hard-disabled pending its rollout gate.</a:t>
            </a:r>
          </a:p>
        </p:txBody>
      </p:sp>
      <p:sp>
        <p:nvSpPr>
          <p:cNvPr id="78" name="Oval 77"/>
          <p:cNvSpPr/>
          <p:nvPr/>
        </p:nvSpPr>
        <p:spPr>
          <a:xfrm>
            <a:off x="384048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48006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57607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7208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768096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86410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96012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05613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52144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24815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34416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44018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536192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63220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72821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82422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20240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201625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211226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20827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304288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40030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249631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259232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2688336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278434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88036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297637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3072384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316839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326440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336042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3456432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355244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364845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374446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3840480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3936491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384048" y="484632"/>
            <a:ext cx="530352" cy="36576"/>
          </a:xfrm>
          <a:prstGeom prst="rect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84048" y="612648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FB6BF"/>
                </a:solidFill>
                <a:latin typeface="Arial"/>
              </a:rPr>
              <a:t>ARCHITECTURE · PROJECTION AUTHORITY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5603" cy="25603"/>
          </a:xfrm>
          <a:prstGeom prst="ellipse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5603" cy="25603"/>
          </a:xfrm>
          <a:prstGeom prst="ellipse">
            <a:avLst/>
          </a:prstGeom>
          <a:solidFill>
            <a:srgbClr val="3C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6576"/>
          </a:xfrm>
          <a:prstGeom prst="rect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FB6BF"/>
                </a:solidFill>
                <a:latin typeface="Arial"/>
              </a:rPr>
              <a:t>ARCHITECTURE · ARTIFACTS &amp; MAIN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62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6539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FB6BF"/>
                </a:solidFill>
                <a:latin typeface="Arial"/>
              </a:rPr>
              <a:t>THE FACTORY / AUTHORITY &amp; DATA 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FB6BF"/>
                </a:solidFill>
                <a:latin typeface="Arial"/>
              </a:rPr>
              <a:t>23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661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41832"/>
            <a:ext cx="111556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4F4F4"/>
                </a:solidFill>
                <a:latin typeface="Arial"/>
              </a:rPr>
              <a:t>Artifacts prove a run; reviewed main records accepted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517904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FB6BF"/>
                </a:solidFill>
                <a:latin typeface="Arial"/>
              </a:rPr>
              <a:t>The evidence path and the state path meet only at exact, verified receipts.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0352" y="2148840"/>
            <a:ext cx="1828800" cy="1435608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30352" y="2286000"/>
            <a:ext cx="41148" cy="1161288"/>
          </a:xfrm>
          <a:prstGeom prst="rect">
            <a:avLst/>
          </a:prstGeom>
          <a:solidFill>
            <a:srgbClr val="397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944" y="2267712"/>
            <a:ext cx="151790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97EB7"/>
                </a:solidFill>
                <a:latin typeface="Arial"/>
              </a:rPr>
              <a:t>FACTORY WORKER / EXPORT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" y="2560320"/>
            <a:ext cx="15179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4F4F4"/>
                </a:solidFill>
                <a:latin typeface="Arial"/>
              </a:rPr>
              <a:t>Seals one exact attempt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" y="2898648"/>
            <a:ext cx="1517904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AFB6BF"/>
                </a:solidFill>
                <a:latin typeface="Arial"/>
              </a:rPr>
              <a:t>and prepares a data-only
proposal when eligible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06624" y="2148840"/>
            <a:ext cx="1847088" cy="1435608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06624" y="2286000"/>
            <a:ext cx="41148" cy="1161288"/>
          </a:xfrm>
          <a:prstGeom prst="rect">
            <a:avLst/>
          </a:prstGeom>
          <a:solidFill>
            <a:srgbClr val="4CC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71216" y="2267712"/>
            <a:ext cx="15361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CC7E8"/>
                </a:solidFill>
                <a:latin typeface="Arial"/>
              </a:rPr>
              <a:t>UPLOADED ARTIFACT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71216" y="2560320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4F4F4"/>
                </a:solidFill>
                <a:latin typeface="Arial"/>
              </a:rPr>
              <a:t>Immutable run evidence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898648"/>
            <a:ext cx="1536192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AFB6BF"/>
                </a:solidFill>
                <a:latin typeface="Arial"/>
              </a:rPr>
              <a:t>Exact producer IDs
Not canonical data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01184" y="2148840"/>
            <a:ext cx="1993392" cy="1435608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901184" y="2286000"/>
            <a:ext cx="41148" cy="1161288"/>
          </a:xfrm>
          <a:prstGeom prst="rect">
            <a:avLst/>
          </a:prstGeom>
          <a:solidFill>
            <a:srgbClr val="DA7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65776" y="2267712"/>
            <a:ext cx="1682496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A79B0"/>
                </a:solidFill>
                <a:latin typeface="Arial"/>
              </a:rPr>
              <a:t>DATA-ONLY PROPOSAL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65776" y="2560320"/>
            <a:ext cx="16824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4F4F4"/>
                </a:solidFill>
                <a:latin typeface="Arial"/>
              </a:rPr>
              <a:t>factory/v2-evidence-*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65776" y="2898648"/>
            <a:ext cx="168249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AFB6BF"/>
                </a:solidFill>
                <a:latin typeface="Arial"/>
              </a:rPr>
              <a:t>proposal.json + data/**
Exact expected base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42048" y="2148840"/>
            <a:ext cx="1664208" cy="1435608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242048" y="2286000"/>
            <a:ext cx="41148" cy="1161288"/>
          </a:xfrm>
          <a:prstGeom prst="rect">
            <a:avLst/>
          </a:prstGeom>
          <a:solidFill>
            <a:srgbClr val="F1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406640" y="2267712"/>
            <a:ext cx="13533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1B94A"/>
                </a:solidFill>
                <a:latin typeface="Arial"/>
              </a:rPr>
              <a:t>HUMAN REVIEW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2560320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4F4F4"/>
                </a:solidFill>
                <a:latin typeface="Arial"/>
              </a:rPr>
              <a:t>Pull request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06640" y="2898648"/>
            <a:ext cx="1353312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AFB6BF"/>
                </a:solidFill>
                <a:latin typeface="Arial"/>
              </a:rPr>
              <a:t>required checks
review + merge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53728" y="2148840"/>
            <a:ext cx="2414016" cy="1435608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253728" y="2286000"/>
            <a:ext cx="41148" cy="1161288"/>
          </a:xfrm>
          <a:prstGeom prst="rect">
            <a:avLst/>
          </a:prstGeom>
          <a:solidFill>
            <a:srgbClr val="A0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418319" y="2267712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A6AE"/>
                </a:solidFill>
                <a:latin typeface="Arial"/>
              </a:rPr>
              <a:t>PROTECTED MAIN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19" y="256032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4F4F4"/>
                </a:solidFill>
                <a:latin typeface="Arial"/>
              </a:rPr>
              <a:t>Accepted data/**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18319" y="2898648"/>
            <a:ext cx="210312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FB6BF"/>
                </a:solidFill>
                <a:latin typeface="Arial"/>
              </a:rPr>
              <a:t>Trusted code + config
Review is the gate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386584" y="2852928"/>
            <a:ext cx="256032" cy="0"/>
          </a:xfrm>
          <a:prstGeom prst="line">
            <a:avLst/>
          </a:prstGeom>
          <a:ln w="22860">
            <a:solidFill>
              <a:srgbClr val="397E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581144" y="2852928"/>
            <a:ext cx="256032" cy="0"/>
          </a:xfrm>
          <a:prstGeom prst="line">
            <a:avLst/>
          </a:prstGeom>
          <a:ln w="22860">
            <a:solidFill>
              <a:srgbClr val="4CC7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922008" y="2852928"/>
            <a:ext cx="256032" cy="0"/>
          </a:xfrm>
          <a:prstGeom prst="line">
            <a:avLst/>
          </a:prstGeom>
          <a:ln w="22860">
            <a:solidFill>
              <a:srgbClr val="DA7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933688" y="2852928"/>
            <a:ext cx="256032" cy="0"/>
          </a:xfrm>
          <a:prstGeom prst="line">
            <a:avLst/>
          </a:prstGeom>
          <a:ln w="22860">
            <a:solidFill>
              <a:srgbClr val="F1B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3822191" y="4206240"/>
            <a:ext cx="3310128" cy="1143000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822191" y="4343400"/>
            <a:ext cx="41148" cy="868680"/>
          </a:xfrm>
          <a:prstGeom prst="rect">
            <a:avLst/>
          </a:prstGeom>
          <a:solidFill>
            <a:srgbClr val="397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986783" y="4325112"/>
            <a:ext cx="299923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97EB7"/>
                </a:solidFill>
                <a:latin typeface="Arial"/>
              </a:rPr>
              <a:t>EXACT ACCEPTANCE IMPORT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86783" y="4617720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4F4F4"/>
                </a:solidFill>
                <a:latin typeface="Arial"/>
              </a:rPr>
              <a:t>manual-accept-evidence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86783" y="4956048"/>
            <a:ext cx="299923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AFB6BF"/>
                </a:solidFill>
                <a:latin typeface="Arial"/>
              </a:rPr>
              <a:t>Revalidated artifact IDs + exact merged main commit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443216" y="4206240"/>
            <a:ext cx="2523744" cy="1143000"/>
          </a:xfrm>
          <a:prstGeom prst="roundRect">
            <a:avLst/>
          </a:prstGeom>
          <a:solidFill>
            <a:srgbClr val="171A1E"/>
          </a:solidFill>
          <a:ln w="12700">
            <a:solidFill>
              <a:srgbClr val="3B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443216" y="4343400"/>
            <a:ext cx="41148" cy="868680"/>
          </a:xfrm>
          <a:prstGeom prst="rect">
            <a:avLst/>
          </a:prstGeom>
          <a:solidFill>
            <a:srgbClr val="9A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607808" y="4325112"/>
            <a:ext cx="22128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76D2"/>
                </a:solidFill>
                <a:latin typeface="Arial"/>
              </a:rPr>
              <a:t>FACTORY-STATE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07808" y="4617720"/>
            <a:ext cx="22128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4F4F4"/>
                </a:solidFill>
                <a:latin typeface="Arial"/>
              </a:rPr>
              <a:t>Acceptance receipt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07808" y="4956048"/>
            <a:ext cx="2212848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AFB6BF"/>
                </a:solidFill>
                <a:latin typeface="Arial"/>
              </a:rPr>
              <a:t>Lifecycle handoff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3621024" y="3639312"/>
            <a:ext cx="722376" cy="493775"/>
          </a:xfrm>
          <a:prstGeom prst="line">
            <a:avLst/>
          </a:prstGeom>
          <a:ln w="22860">
            <a:solidFill>
              <a:srgbClr val="4CC7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6675120" y="3639312"/>
            <a:ext cx="3803904" cy="493775"/>
          </a:xfrm>
          <a:prstGeom prst="line">
            <a:avLst/>
          </a:prstGeom>
          <a:ln w="22860">
            <a:solidFill>
              <a:srgbClr val="F1B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2400" y="3675887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1B94A"/>
                </a:solidFill>
                <a:latin typeface="Arial"/>
              </a:rPr>
              <a:t>EXACT MERGED MAIN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168896" y="4773168"/>
            <a:ext cx="210312" cy="0"/>
          </a:xfrm>
          <a:prstGeom prst="line">
            <a:avLst/>
          </a:prstGeom>
          <a:ln w="22860">
            <a:solidFill>
              <a:srgbClr val="9A76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640080" y="5486400"/>
            <a:ext cx="11027664" cy="493776"/>
          </a:xfrm>
          <a:prstGeom prst="roundRect">
            <a:avLst/>
          </a:prstGeom>
          <a:solidFill>
            <a:srgbClr val="0B0D10"/>
          </a:solidFill>
          <a:ln w="10160">
            <a:solidFill>
              <a:srgbClr val="2F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41248" y="5532120"/>
            <a:ext cx="10561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73C68C"/>
                </a:solidFill>
                <a:latin typeface="Arial"/>
              </a:rPr>
              <a:t>NEXT · manual-site-publish reads accepted main; the exact Pages deployment receipt returns to factory-state.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1248" y="5760720"/>
            <a:ext cx="10561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F4F4F4"/>
                </a:solidFill>
                <a:latin typeface="Arial"/>
              </a:rPr>
              <a:t>THREE DISTINCT RECORDS   Artifact = what ran   ·   main = reviewed data   ·   factory-state = lifecycle and receipts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ARCHITECTURE CHANGES · 1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FACTORY / DURABLE MODULE UNIT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AFB6BF"/>
                </a:solidFill>
                <a:latin typeface="Arial"/>
              </a:rPr>
              <a:t>24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Make each module its own durable unit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The v1 failures were structural; v2 changed the unit of work and the state model.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" y="1783080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COHORT REPLACEMENT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" y="2103120"/>
            <a:ext cx="2240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1A7AE"/>
                </a:solidFill>
                <a:latin typeface="Arial"/>
              </a:rPr>
              <a:t>One-module acceptance could replace the dataset.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081528" y="1874519"/>
            <a:ext cx="0" cy="658369"/>
          </a:xfrm>
          <a:prstGeom prst="line">
            <a:avLst/>
          </a:prstGeom>
          <a:ln w="10160">
            <a:solidFill>
              <a:srgbClr val="4A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264408" y="200253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2C7EF"/>
                </a:solidFill>
                <a:latin typeface="Arial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3320" y="1856231"/>
            <a:ext cx="33649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4F4"/>
                </a:solidFill>
                <a:latin typeface="Arial"/>
              </a:rPr>
              <a:t>Patch one module into the accepted dataset.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269480" y="1874519"/>
            <a:ext cx="0" cy="658369"/>
          </a:xfrm>
          <a:prstGeom prst="line">
            <a:avLst/>
          </a:prstGeom>
          <a:ln w="10160">
            <a:solidFill>
              <a:srgbClr val="4A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589520" y="1901952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Keeps the fleet intact.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58368" y="2660904"/>
            <a:ext cx="10817352" cy="0"/>
          </a:xfrm>
          <a:prstGeom prst="line">
            <a:avLst/>
          </a:prstGeom>
          <a:ln w="8255">
            <a:solidFill>
              <a:srgbClr val="303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76656" y="2807208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FILE QUEUE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" y="3127248"/>
            <a:ext cx="2240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1A7AE"/>
                </a:solidFill>
                <a:latin typeface="Arial"/>
              </a:rPr>
              <a:t>Runner-local renames are not a shared lock.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081528" y="2898648"/>
            <a:ext cx="0" cy="658368"/>
          </a:xfrm>
          <a:prstGeom prst="line">
            <a:avLst/>
          </a:prstGeom>
          <a:ln w="10160">
            <a:solidFill>
              <a:srgbClr val="4A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264408" y="302666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2C7EF"/>
                </a:solidFill>
                <a:latin typeface="Arial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03320" y="2880360"/>
            <a:ext cx="33649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4F4"/>
                </a:solidFill>
                <a:latin typeface="Arial"/>
              </a:rPr>
              <a:t>Durable compare-and-swap state with fencing.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269480" y="2898648"/>
            <a:ext cx="0" cy="658368"/>
          </a:xfrm>
          <a:prstGeom prst="line">
            <a:avLst/>
          </a:prstGeom>
          <a:ln w="10160">
            <a:solidFill>
              <a:srgbClr val="4A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589520" y="2926080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Stale runners cannot overwrite a newer generation.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8368" y="3685032"/>
            <a:ext cx="10817352" cy="0"/>
          </a:xfrm>
          <a:prstGeom prst="line">
            <a:avLst/>
          </a:prstGeom>
          <a:ln w="8255">
            <a:solidFill>
              <a:srgbClr val="303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76656" y="3831336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FAILURE COUPLING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" y="4151376"/>
            <a:ext cx="2240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1A7AE"/>
                </a:solidFill>
                <a:latin typeface="Arial"/>
              </a:rPr>
              <a:t>One worker failure could block siblings.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081528" y="3922776"/>
            <a:ext cx="0" cy="658368"/>
          </a:xfrm>
          <a:prstGeom prst="line">
            <a:avLst/>
          </a:prstGeom>
          <a:ln w="10160">
            <a:solidFill>
              <a:srgbClr val="4A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264408" y="40507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2C7EF"/>
                </a:solidFill>
                <a:latin typeface="Arial"/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03320" y="3904488"/>
            <a:ext cx="33649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4F4"/>
                </a:solidFill>
                <a:latin typeface="Arial"/>
              </a:rPr>
              <a:t>Independent module requests and lifecycle intents.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269480" y="3922776"/>
            <a:ext cx="0" cy="658368"/>
          </a:xfrm>
          <a:prstGeom prst="line">
            <a:avLst/>
          </a:prstGeom>
          <a:ln w="10160">
            <a:solidFill>
              <a:srgbClr val="4A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589520" y="3950208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One module can stop without replaying the fleet.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58368" y="4709160"/>
            <a:ext cx="10817352" cy="0"/>
          </a:xfrm>
          <a:prstGeom prst="line">
            <a:avLst/>
          </a:prstGeom>
          <a:ln w="8255">
            <a:solidFill>
              <a:srgbClr val="303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76656" y="4855464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LOST FACTS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" y="5175504"/>
            <a:ext cx="2240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1A7AE"/>
                </a:solidFill>
                <a:latin typeface="Arial"/>
              </a:rPr>
              <a:t>Normalization discarded typed facts.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081528" y="4946904"/>
            <a:ext cx="0" cy="658368"/>
          </a:xfrm>
          <a:prstGeom prst="line">
            <a:avLst/>
          </a:prstGeom>
          <a:ln w="10160">
            <a:solidFill>
              <a:srgbClr val="4A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264408" y="50749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2C7EF"/>
                </a:solidFill>
                <a:latin typeface="Arial"/>
              </a:rP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03320" y="4928616"/>
            <a:ext cx="33649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4F4"/>
                </a:solidFill>
                <a:latin typeface="Arial"/>
              </a:rPr>
              <a:t>Native typed records; missing stays unknown.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269480" y="4946904"/>
            <a:ext cx="0" cy="658368"/>
          </a:xfrm>
          <a:prstGeom prst="line">
            <a:avLst/>
          </a:prstGeom>
          <a:ln w="10160">
            <a:solidFill>
              <a:srgbClr val="4A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589520" y="4974336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Unknown is not silently converted to zero.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ARCHITECTURE CHANGES · 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FACTORY / REVIEW AND ACCEPTANCE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AFB6BF"/>
                </a:solidFill>
                <a:latin typeface="Arial"/>
              </a:rPr>
              <a:t>25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Keep review, acceptance, and publication separate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Workers prepare evidence. They do not accept data or publish a result.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" y="2029968"/>
            <a:ext cx="1865376" cy="1298448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9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8096" y="2258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2C7EF"/>
                </a:solidFill>
                <a:latin typeface="Arial"/>
              </a:rPr>
              <a:t>WORKER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2660904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seals evidence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487168" y="2670048"/>
            <a:ext cx="347472" cy="0"/>
          </a:xfrm>
          <a:prstGeom prst="line">
            <a:avLst/>
          </a:prstGeom>
          <a:ln w="15240">
            <a:solidFill>
              <a:srgbClr val="666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862072" y="2029968"/>
            <a:ext cx="1865376" cy="1298448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9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08376" y="2258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08376" y="2660904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exact-head PR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27448" y="2670048"/>
            <a:ext cx="347472" cy="0"/>
          </a:xfrm>
          <a:prstGeom prst="line">
            <a:avLst/>
          </a:prstGeom>
          <a:ln w="15240">
            <a:solidFill>
              <a:srgbClr val="666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102352" y="2029968"/>
            <a:ext cx="1865376" cy="1298448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9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48656" y="2258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8F92"/>
                </a:solidFill>
                <a:latin typeface="Arial"/>
              </a:rPr>
              <a:t>ACCEPT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48656" y="2660904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receipt imports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967728" y="2670048"/>
            <a:ext cx="347472" cy="0"/>
          </a:xfrm>
          <a:prstGeom prst="line">
            <a:avLst/>
          </a:prstGeom>
          <a:ln w="15240">
            <a:solidFill>
              <a:srgbClr val="666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342632" y="2029968"/>
            <a:ext cx="1865376" cy="1298448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9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88936" y="2258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366FF"/>
                </a:solidFill>
                <a:latin typeface="Arial"/>
              </a:rPr>
              <a:t>SELECT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88936" y="2660904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reviewed export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208008" y="2670048"/>
            <a:ext cx="347472" cy="0"/>
          </a:xfrm>
          <a:prstGeom prst="line">
            <a:avLst/>
          </a:prstGeom>
          <a:ln w="15240">
            <a:solidFill>
              <a:srgbClr val="666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9582912" y="2029968"/>
            <a:ext cx="1865376" cy="1298448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9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729216" y="2258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A7FF"/>
                </a:solidFill>
                <a:latin typeface="Arial"/>
              </a:rPr>
              <a:t>PUBLISH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29216" y="2660904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deployment receipt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5800" y="3977639"/>
            <a:ext cx="5074920" cy="1051560"/>
          </a:xfrm>
          <a:prstGeom prst="roundRect">
            <a:avLst>
              <a:gd name="adj" fmla="val 8000"/>
            </a:avLst>
          </a:prstGeom>
          <a:solidFill>
            <a:srgbClr val="211D1A"/>
          </a:solidFill>
          <a:ln w="10160">
            <a:solidFill>
              <a:srgbClr val="60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4400" y="418795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7675E"/>
                </a:solidFill>
                <a:latin typeface="Arial"/>
              </a:rPr>
              <a:t>ISSUE FOUND IN V1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4489704"/>
            <a:ext cx="4480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“Done” could describe a different commit than the published site.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53328" y="3977639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1A2122"/>
          </a:solidFill>
          <a:ln w="10160">
            <a:solidFill>
              <a:srgbClr val="334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09360" y="41879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2C7EF"/>
                </a:solidFill>
                <a:latin typeface="Arial"/>
              </a:rPr>
              <a:t>V2 RESPONSE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60" y="4489704"/>
            <a:ext cx="46634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Bind completion to exact accepted commit, digest, and module membership.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8" y="542239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1A7AE"/>
                </a:solidFill>
                <a:latin typeface="Arial"/>
              </a:rPr>
              <a:t>GitHub Issues and Projects reflect lifecycle state; they are not queue or approval inputs.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ARCHITECTURE CHANGES · 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FACTORY / OPERATIONAL CORRECTIONS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AFB6BF"/>
                </a:solidFill>
                <a:latin typeface="Arial"/>
              </a:rPr>
              <a:t>26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Real runs refined the machinery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Corrections in 6–10 October addressed measured or repeatable failure modes.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1847088"/>
            <a:ext cx="3438144" cy="306324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85800" y="1847088"/>
            <a:ext cx="50292" cy="3063240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2" y="2020824"/>
            <a:ext cx="3026663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2C7EF"/>
                </a:solidFill>
                <a:latin typeface="Arial"/>
              </a:rPr>
              <a:t>TRANSPORT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2295144"/>
            <a:ext cx="3026663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State reads were too expensive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2825496"/>
            <a:ext cx="3017520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REST re-downloaded 1,336 blobs twice, taking about 3.5 minutes each pass. Git transport reads one snapshot and publishes a small expected-head commit.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70832" y="1847088"/>
            <a:ext cx="3438144" cy="306324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370832" y="1847088"/>
            <a:ext cx="50292" cy="3063240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81144" y="2020824"/>
            <a:ext cx="3026663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7675E"/>
                </a:solidFill>
                <a:latin typeface="Arial"/>
              </a:rPr>
              <a:t>LIFECYCLE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81144" y="2295144"/>
            <a:ext cx="3026663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Discovery was too coupled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81144" y="2825496"/>
            <a:ext cx="3017520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A batch cursor could replay already committed module work; transaction identity also failed validation. Per-module durable discovery and a separate projector isolate retries.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55864" y="1847088"/>
            <a:ext cx="3438144" cy="306324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055864" y="1847088"/>
            <a:ext cx="50292" cy="3063240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66176" y="2020824"/>
            <a:ext cx="3026663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C8F92"/>
                </a:solidFill>
                <a:latin typeface="Arial"/>
              </a:rPr>
              <a:t>EVIDENCE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6" y="2295144"/>
            <a:ext cx="3026663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Evidence needed a real handoff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66176" y="2825496"/>
            <a:ext cx="3017520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Prepared worker branches were not accepted evidence. Sealed attempts now pass through exact-head review PRs and receipt import before selection.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" y="54132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4F4"/>
                </a:solidFill>
                <a:latin typeface="Arial"/>
              </a:rPr>
              <a:t>A successful workflow is not itself proof of acceptance or publication.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B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DESTINATION · GUARDRAILS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DESTINATION / GUARDRAILS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AFB6BF"/>
                </a:solidFill>
                <a:latin typeface="Arial"/>
              </a:rPr>
              <a:t>27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Autonomous delivery, with evidence boundaries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“Unattended” describes the data pipeline goal; it never removes review.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1874519"/>
            <a:ext cx="3456432" cy="192024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85800" y="1874519"/>
            <a:ext cx="50292" cy="1920240"/>
          </a:xfrm>
          <a:prstGeom prst="rect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2" y="2048255"/>
            <a:ext cx="304495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2C7EF"/>
                </a:solidFill>
                <a:latin typeface="Arial"/>
              </a:rPr>
              <a:t>SAFETY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2322576"/>
            <a:ext cx="3044951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Source is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2852928"/>
            <a:ext cx="3035808" cy="81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1A7AE"/>
                </a:solidFill>
                <a:latin typeface="Arial"/>
              </a:rPr>
              <a:t>Go parses approved source revisions. Terraform, providers, and upstream code are not executed.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70832" y="1874519"/>
            <a:ext cx="3456432" cy="192024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370832" y="1874519"/>
            <a:ext cx="50292" cy="1920240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81144" y="2048255"/>
            <a:ext cx="304495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7675E"/>
                </a:solidFill>
                <a:latin typeface="Arial"/>
              </a:rPr>
              <a:t>DETERMINISM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81144" y="2322576"/>
            <a:ext cx="3044951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Checks are replayable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81144" y="2852928"/>
            <a:ext cx="3035808" cy="81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1A7AE"/>
                </a:solidFill>
                <a:latin typeface="Arial"/>
              </a:rPr>
              <a:t>Reviewed, pinned Go libraries and compiled checks. Mandatory AI and dynamically loaded checks stay out.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55864" y="1874519"/>
            <a:ext cx="3456432" cy="1920240"/>
          </a:xfrm>
          <a:prstGeom prst="roundRect">
            <a:avLst>
              <a:gd name="adj" fmla="val 8000"/>
            </a:avLst>
          </a:prstGeom>
          <a:solidFill>
            <a:srgbClr val="17191B"/>
          </a:solidFill>
          <a:ln w="10160">
            <a:solidFill>
              <a:srgbClr val="34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055864" y="1874519"/>
            <a:ext cx="50292" cy="1920240"/>
          </a:xfrm>
          <a:prstGeom prst="rect">
            <a:avLst/>
          </a:prstGeom>
          <a:solidFill>
            <a:srgbClr val="2C8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66176" y="2048255"/>
            <a:ext cx="304495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C8F92"/>
                </a:solidFill>
                <a:latin typeface="Arial"/>
              </a:rPr>
              <a:t>TRUTHFULNESS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6" y="2322576"/>
            <a:ext cx="3044951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4F4"/>
                </a:solidFill>
                <a:latin typeface="Arial"/>
              </a:rPr>
              <a:t>Unknown stays unknown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66176" y="2852928"/>
            <a:ext cx="3035808" cy="81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 dirty="0">
                <a:solidFill>
                  <a:srgbClr val="A1A7AE"/>
                </a:solidFill>
                <a:latin typeface="Arial"/>
              </a:rPr>
              <a:t>Path conventions and exact checks decide role. Missing evidence does not become a pass or zero.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4944" y="4279392"/>
            <a:ext cx="10808208" cy="1033271"/>
          </a:xfrm>
          <a:prstGeom prst="roundRect">
            <a:avLst>
              <a:gd name="adj" fmla="val 8000"/>
            </a:avLst>
          </a:prstGeom>
          <a:solidFill>
            <a:srgbClr val="1B2024"/>
          </a:solidFill>
          <a:ln w="10160">
            <a:solidFill>
              <a:srgbClr val="414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2688" y="451713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366FF"/>
                </a:solidFill>
                <a:latin typeface="Arial"/>
              </a:rPr>
              <a:t>REVIEW IS A GATE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07792" y="4443984"/>
            <a:ext cx="82296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4F4"/>
                </a:solidFill>
                <a:latin typeface="Arial"/>
              </a:rPr>
              <a:t>A reviewed PR stands between assessment and accepted data; a deployment receipt stands between accepted data and “Done.”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208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41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6132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481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16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01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619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220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28216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422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2024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625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226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0827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0428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00300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232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8833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434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637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72384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6839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64408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6042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6432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52444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44468" y="246888"/>
            <a:ext cx="22860" cy="22860"/>
          </a:xfrm>
          <a:prstGeom prst="ellipse">
            <a:avLst/>
          </a:prstGeom>
          <a:solidFill>
            <a:srgbClr val="62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40480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6491" y="246888"/>
            <a:ext cx="22860" cy="22860"/>
          </a:xfrm>
          <a:prstGeom prst="ellipse">
            <a:avLst/>
          </a:prstGeom>
          <a:solidFill>
            <a:srgbClr val="626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84632"/>
            <a:ext cx="530352" cy="32004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61264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1A7AE"/>
                </a:solidFill>
                <a:latin typeface="Arial"/>
              </a:rPr>
              <a:t>THE DESTINATION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6510528"/>
            <a:ext cx="11420856" cy="0"/>
          </a:xfrm>
          <a:prstGeom prst="line">
            <a:avLst/>
          </a:prstGeom>
          <a:ln w="8255">
            <a:solidFill>
              <a:srgbClr val="353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3192" y="6583680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1A7AE"/>
                </a:solidFill>
                <a:latin typeface="Arial"/>
              </a:rPr>
              <a:t>THE DESTINATION / END-TO-END DELIVERY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AFB6BF"/>
                </a:solidFill>
                <a:latin typeface="Arial"/>
              </a:rPr>
              <a:t>28</a:t>
            </a:r>
          </a:p>
        </p:txBody>
      </p:sp>
      <p:pic>
        <p:nvPicPr>
          <p:cNvPr id="45" name="Picture 44" descr="softwareo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007608"/>
            <a:ext cx="1005840" cy="3534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0624" y="98755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4F4"/>
                </a:solidFill>
                <a:latin typeface="Arial"/>
              </a:rPr>
              <a:t>The destination: end-to-end module delivery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1600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7AE"/>
                </a:solidFill>
                <a:latin typeface="Arial"/>
              </a:rPr>
              <a:t>The target is an autonomous, staged factory for reviewed data — with every decision tied to evidence.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1920240"/>
            <a:ext cx="6400800" cy="749808"/>
          </a:xfrm>
          <a:prstGeom prst="roundRect">
            <a:avLst>
              <a:gd name="adj" fmla="val 8000"/>
            </a:avLst>
          </a:prstGeom>
          <a:solidFill>
            <a:srgbClr val="202328"/>
          </a:solidFill>
          <a:ln w="10160">
            <a:solidFill>
              <a:srgbClr val="3D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552" y="216712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2C7EF"/>
                </a:solidFill>
                <a:latin typeface="Arial"/>
              </a:rPr>
              <a:t>NIGHTLY DISCOVERY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0128" y="2121408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4F4"/>
                </a:solidFill>
                <a:latin typeface="Arial"/>
              </a:rPr>
              <a:t>finds a new stable revision and records 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15568" y="2898648"/>
            <a:ext cx="6400800" cy="749808"/>
          </a:xfrm>
          <a:prstGeom prst="roundRect">
            <a:avLst>
              <a:gd name="adj" fmla="val 8000"/>
            </a:avLst>
          </a:prstGeom>
          <a:solidFill>
            <a:srgbClr val="202328"/>
          </a:solidFill>
          <a:ln w="10160">
            <a:solidFill>
              <a:srgbClr val="3D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0" y="314553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7675E"/>
                </a:solidFill>
                <a:latin typeface="Arial"/>
              </a:rPr>
              <a:t>MODULE LIFECYCLE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75887" y="309981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F4F4"/>
                </a:solidFill>
                <a:latin typeface="Arial"/>
              </a:rPr>
              <a:t>moves through acquisition, checks, review, and selection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99616" y="3877056"/>
            <a:ext cx="6400800" cy="749808"/>
          </a:xfrm>
          <a:prstGeom prst="roundRect">
            <a:avLst>
              <a:gd name="adj" fmla="val 8000"/>
            </a:avLst>
          </a:prstGeom>
          <a:solidFill>
            <a:srgbClr val="202328"/>
          </a:solidFill>
          <a:ln w="10160">
            <a:solidFill>
              <a:srgbClr val="3D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755648" y="412394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8F92"/>
                </a:solidFill>
                <a:latin typeface="Arial"/>
              </a:rPr>
              <a:t>RECEIPT-BACKED VIEWS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87952" y="4078224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4F4"/>
                </a:solidFill>
                <a:latin typeface="Arial"/>
              </a:rPr>
              <a:t>publish what was actually accepted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321040" y="1901952"/>
            <a:ext cx="0" cy="2926080"/>
          </a:xfrm>
          <a:prstGeom prst="line">
            <a:avLst/>
          </a:prstGeom>
          <a:ln w="12700">
            <a:solidFill>
              <a:srgbClr val="4349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705088" y="2084831"/>
            <a:ext cx="27432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A1A7AE"/>
                </a:solidFill>
                <a:latin typeface="Arial"/>
              </a:rPr>
              <a:t>THE IDEA
STAYED STABLE.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05088" y="315468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4F4F4"/>
                </a:solidFill>
                <a:latin typeface="Arial"/>
              </a:rPr>
              <a:t>THE RUNTIME
DIDN’T.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14232" y="4315968"/>
            <a:ext cx="822960" cy="54864"/>
          </a:xfrm>
          <a:prstGeom prst="rect">
            <a:avLst/>
          </a:prstGeom>
          <a:solidFill>
            <a:srgbClr val="F7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05088" y="460857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2C7EF"/>
                </a:solidFill>
                <a:latin typeface="Arial"/>
              </a:rPr>
              <a:t>From local scrape
to durable factory.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" y="5897880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1A7AE"/>
                </a:solidFill>
                <a:latin typeface="Arial"/>
              </a:rPr>
              <a:t>Source: docs/panel/timeline.md · updated 12 October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you_light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5488" y="512064"/>
            <a:ext cx="7461504" cy="8321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Thank you!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998464"/>
            <a:ext cx="1307592" cy="4599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" y="1527048"/>
            <a:ext cx="7461504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F4"/>
                </a:solidFill>
                <a:latin typeface="Arial"/>
              </a:rPr>
              <a:t>Bence Bánó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901952"/>
            <a:ext cx="7461504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4F4F4"/>
                </a:solidFill>
                <a:latin typeface="Arial"/>
              </a:rPr>
              <a:t>bence.bano@softwareone.com</a:t>
            </a:r>
          </a:p>
        </p:txBody>
      </p:sp>
      <p:pic>
        <p:nvPicPr>
          <p:cNvPr id="8" name="Picture 7" descr="linkedin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2" y="438912"/>
            <a:ext cx="16459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29800" y="2148840"/>
            <a:ext cx="1975104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4F4F4"/>
                </a:solidFill>
                <a:latin typeface="Arial"/>
              </a:rPr>
              <a:t>SCAN TO CONNECT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3153</Words>
  <Application>Microsoft Macintosh PowerPoint</Application>
  <PresentationFormat>Widescreen</PresentationFormat>
  <Paragraphs>491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Bánó, Bence</cp:lastModifiedBy>
  <cp:revision>16</cp:revision>
  <dcterms:created xsi:type="dcterms:W3CDTF">2013-01-27T09:14:16Z</dcterms:created>
  <dcterms:modified xsi:type="dcterms:W3CDTF">2026-10-13T13:22:53Z</dcterms:modified>
  <cp:category/>
</cp:coreProperties>
</file>